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5116175" cy="2138362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38" d="100"/>
          <a:sy n="38" d="100"/>
        </p:scale>
        <p:origin x="32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style reference: /var/folders/z3/3k1qp3m90d38sv0jjk5wsw1w0000gn/T/codex-clipboard-29c3efb4-72a0-4959-8f87-520cdb57d392.png</a:t>
            </a:r>
          </a:p>
          <a:p>
            <a:r>
              <a:t>- OpenAI-generated background asset: assets/black-gold-background.png</a:t>
            </a:r>
          </a:p>
          <a:p>
            <a:r>
              <a:t>- Project content source: /Users/chan/Developer/workspace/pume-llm-ab/backend/counsel/prompts.py</a:t>
            </a:r>
          </a:p>
          <a:p>
            <a:r>
              <a:t>- QR destination: https://github.com/mgusdn/chatbot</a:t>
            </a:r>
          </a:p>
          <a:p>
            <a:r>
              <a:t>[/Sources]</a:t>
            </a:r>
          </a:p>
          <a:p>
            <a:endParaRPr/>
          </a:p>
          <a:p>
            <a:r>
              <a:t>A clean black-and-gold standing-banner concept with a single red attention hook.</a:t>
            </a:r>
          </a:p>
          <a:p>
            <a:r>
              <a:t>
[Sources]
- Nanum Brush Script: https://github.com/google/fonts/tree/main/ofl/nanumbrushscript (SIL Open Font License 1.1)
[/Sources]
Typography revision: AppleMyungjo for Korean display/body text; Avenir Next Condensed for supporting Latin text; brush hook rasterized to preserve print appearance.</a:t>
            </a:r>
          </a:p>
          <a:p>
            <a:r>
              <a:t>
Revision: non-hook typography changed to angular Apple SD Gothic Neo/DIN Condensed. Character-slide text changed to white. Descriptor copy changed to ‘사티어 빙산모델로 나를 이해해봐요’. Character artwork moved upward via inherited background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style reference: /var/folders/z3/3k1qp3m90d38sv0jjk5wsw1w0000gn/T/codex-clipboard-94eaefa5-151e-4dae-aac9-c758328dc192.png</a:t>
            </a:r>
          </a:p>
          <a:p>
            <a:r>
              <a:t>- OpenAI-generated background asset: assets/sky-woman-background.png</a:t>
            </a:r>
          </a:p>
          <a:p>
            <a:r>
              <a:t>- Project content source: /Users/chan/Developer/workspace/pume-llm-ab/backend/counsel/prompts.py</a:t>
            </a:r>
          </a:p>
          <a:p>
            <a:r>
              <a:t>- QR destination: https://github.com/mgusdn/chatbot</a:t>
            </a:r>
          </a:p>
          <a:p>
            <a:r>
              <a:t>[/Sources]</a:t>
            </a:r>
          </a:p>
          <a:p>
            <a:endParaRPr/>
          </a:p>
          <a:p>
            <a:r>
              <a:t>A low-saturation woman fortune-reader version using the same editable hierarchy as the panda concept.</a:t>
            </a:r>
          </a:p>
          <a:p>
            <a:r>
              <a:t>
[Sources]
- Nanum Brush Script: https://github.com/google/fonts/tree/main/ofl/nanumbrushscript (SIL Open Font License 1.1)
[/Sources]
Typography revision: AppleMyungjo for Korean display/body text; Avenir Next Condensed for supporting Latin text; brush hook rasterized to preserve print appearance.</a:t>
            </a:r>
          </a:p>
          <a:p>
            <a:r>
              <a:t>
Revision: non-hook typography changed to angular Apple SD Gothic Neo/DIN Condensed. Character-slide text changed to white. Descriptor copy changed to ‘사티어 빙산모델로 나를 이해해봐요’. Character artwork moved upward via inherited background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t="2846" b="2846"/>
          <a:stretch>
            <a:fillRect/>
          </a:stretch>
        </p:blipFill>
        <p:spPr>
          <a:xfrm>
            <a:off x="0" y="0"/>
            <a:ext cx="15116175" cy="21383625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E32E3E26-3ED5-44BE-9F1D-6A8B437770E0}"/>
              </a:ext>
            </a:extLst>
          </p:cNvPr>
          <p:cNvSpPr>
            <a:spLocks noGrp="1"/>
          </p:cNvSpPr>
          <p:nvPr/>
        </p:nvSpPr>
        <p:spPr>
          <a:xfrm>
            <a:off x="2381250" y="3143250"/>
            <a:ext cx="10353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400" b="1">
                <a:solidFill>
                  <a:srgbClr val="C9A958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>
                <a:solidFill>
                  <a:srgbClr val="C9A958"/>
                </a:solidFill>
                <a:latin typeface="DIN Condensed"/>
                <a:ea typeface="DIN Condensed"/>
                <a:cs typeface="DIN Condensed"/>
              </a:rPr>
              <a:t>SATIR ICEBERG MODEL × AI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DB97BACF-66A2-4B5A-B647-73E212DFA403}"/>
              </a:ext>
            </a:extLst>
          </p:cNvPr>
          <p:cNvSpPr>
            <a:spLocks noGrp="1"/>
          </p:cNvSpPr>
          <p:nvPr/>
        </p:nvSpPr>
        <p:spPr>
          <a:xfrm>
            <a:off x="1381125" y="4000500"/>
            <a:ext cx="123539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9750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0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AI 타로 &amp; 사주</a:t>
            </a:r>
          </a:p>
        </p:txBody>
      </p:sp>
      <p:sp>
        <p:nvSpPr>
          <p:cNvPr id="4" name="hook">
            <a:extLst>
              <a:ext uri="{FF2B5EF4-FFF2-40B4-BE49-F238E27FC236}">
                <a16:creationId xmlns:a16="http://schemas.microsoft.com/office/drawing/2014/main" id="{C9DA22D0-4260-4E88-A2AE-B012570C8050}"/>
              </a:ext>
            </a:extLst>
          </p:cNvPr>
          <p:cNvSpPr>
            <a:spLocks noGrp="1"/>
          </p:cNvSpPr>
          <p:nvPr/>
        </p:nvSpPr>
        <p:spPr>
          <a:xfrm>
            <a:off x="1619250" y="5857875"/>
            <a:ext cx="118776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6825" b="1">
                <a:solidFill>
                  <a:srgbClr val="F2554A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5" name="descriptor">
            <a:extLst>
              <a:ext uri="{FF2B5EF4-FFF2-40B4-BE49-F238E27FC236}">
                <a16:creationId xmlns:a16="http://schemas.microsoft.com/office/drawing/2014/main" id="{2031C698-C846-43A5-810B-B217AFFFDA2A}"/>
              </a:ext>
            </a:extLst>
          </p:cNvPr>
          <p:cNvSpPr>
            <a:spLocks noGrp="1"/>
          </p:cNvSpPr>
          <p:nvPr/>
        </p:nvSpPr>
        <p:spPr>
          <a:xfrm>
            <a:off x="2143125" y="7429500"/>
            <a:ext cx="10829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850" b="0">
                <a:solidFill>
                  <a:srgbClr val="E8DDB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E8DDBB"/>
                </a:solidFill>
                <a:latin typeface="Apple SD Gothic Neo"/>
                <a:ea typeface="Apple SD Gothic Neo"/>
                <a:cs typeface="Apple SD Gothic Neo"/>
              </a:rPr>
              <a:t>사티어 빙산모델로 나를 이해해봐요</a:t>
            </a:r>
          </a:p>
        </p:txBody>
      </p:sp>
      <p:sp>
        <p:nvSpPr>
          <p:cNvPr id="6" name="section-rule-top">
            <a:extLst>
              <a:ext uri="{FF2B5EF4-FFF2-40B4-BE49-F238E27FC236}">
                <a16:creationId xmlns:a16="http://schemas.microsoft.com/office/drawing/2014/main" id="{6C44D31B-B1A5-4902-9A9B-D37C3A35C9F3}"/>
              </a:ext>
            </a:extLst>
          </p:cNvPr>
          <p:cNvSpPr>
            <a:spLocks noGrp="1"/>
          </p:cNvSpPr>
          <p:nvPr/>
        </p:nvSpPr>
        <p:spPr>
          <a:xfrm>
            <a:off x="2857500" y="8572500"/>
            <a:ext cx="9401175" cy="28575"/>
          </a:xfrm>
          <a:prstGeom prst="rect">
            <a:avLst/>
          </a:prstGeom>
          <a:solidFill>
            <a:srgbClr val="B7934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nalysis-label">
            <a:extLst>
              <a:ext uri="{FF2B5EF4-FFF2-40B4-BE49-F238E27FC236}">
                <a16:creationId xmlns:a16="http://schemas.microsoft.com/office/drawing/2014/main" id="{7ED195B1-03ED-46AB-86A2-BDCE59197C31}"/>
              </a:ext>
            </a:extLst>
          </p:cNvPr>
          <p:cNvSpPr>
            <a:spLocks noGrp="1"/>
          </p:cNvSpPr>
          <p:nvPr/>
        </p:nvSpPr>
        <p:spPr>
          <a:xfrm>
            <a:off x="4286250" y="8905875"/>
            <a:ext cx="65436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55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9A958"/>
                </a:solidFill>
                <a:latin typeface="Apple SD Gothic Neo"/>
                <a:ea typeface="Apple SD Gothic Neo"/>
                <a:cs typeface="Apple SD Gothic Neo"/>
              </a:rPr>
              <a:t>6가지 내면 분석</a:t>
            </a:r>
          </a:p>
        </p:txBody>
      </p:sp>
      <p:sp>
        <p:nvSpPr>
          <p:cNvPr id="8" name="analysis-0-left">
            <a:extLst>
              <a:ext uri="{FF2B5EF4-FFF2-40B4-BE49-F238E27FC236}">
                <a16:creationId xmlns:a16="http://schemas.microsoft.com/office/drawing/2014/main" id="{A4F40C77-0A6F-44E6-AC6C-26FBA8ADF40B}"/>
              </a:ext>
            </a:extLst>
          </p:cNvPr>
          <p:cNvSpPr>
            <a:spLocks noGrp="1"/>
          </p:cNvSpPr>
          <p:nvPr/>
        </p:nvSpPr>
        <p:spPr>
          <a:xfrm>
            <a:off x="2381250" y="98488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감정 · 상처 분석</a:t>
            </a:r>
          </a:p>
        </p:txBody>
      </p:sp>
      <p:sp>
        <p:nvSpPr>
          <p:cNvPr id="9" name="analysis-0-right">
            <a:extLst>
              <a:ext uri="{FF2B5EF4-FFF2-40B4-BE49-F238E27FC236}">
                <a16:creationId xmlns:a16="http://schemas.microsoft.com/office/drawing/2014/main" id="{BCEDC12D-2391-4C6D-81CF-CA02E4F70F6D}"/>
              </a:ext>
            </a:extLst>
          </p:cNvPr>
          <p:cNvSpPr>
            <a:spLocks noGrp="1"/>
          </p:cNvSpPr>
          <p:nvPr/>
        </p:nvSpPr>
        <p:spPr>
          <a:xfrm>
            <a:off x="7767638" y="98488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생각 · 지각 분석</a:t>
            </a:r>
          </a:p>
        </p:txBody>
      </p:sp>
      <p:sp>
        <p:nvSpPr>
          <p:cNvPr id="10" name="analysis-row-1">
            <a:extLst>
              <a:ext uri="{FF2B5EF4-FFF2-40B4-BE49-F238E27FC236}">
                <a16:creationId xmlns:a16="http://schemas.microsoft.com/office/drawing/2014/main" id="{BF3E44DC-66EA-4EA6-A4C0-31A402F2EBE2}"/>
              </a:ext>
            </a:extLst>
          </p:cNvPr>
          <p:cNvSpPr>
            <a:spLocks noGrp="1"/>
          </p:cNvSpPr>
          <p:nvPr/>
        </p:nvSpPr>
        <p:spPr>
          <a:xfrm>
            <a:off x="2381250" y="10839450"/>
            <a:ext cx="10353675" cy="190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nalysis-1-left">
            <a:extLst>
              <a:ext uri="{FF2B5EF4-FFF2-40B4-BE49-F238E27FC236}">
                <a16:creationId xmlns:a16="http://schemas.microsoft.com/office/drawing/2014/main" id="{0190159A-6481-47E7-A981-9F01D50EA944}"/>
              </a:ext>
            </a:extLst>
          </p:cNvPr>
          <p:cNvSpPr>
            <a:spLocks noGrp="1"/>
          </p:cNvSpPr>
          <p:nvPr/>
        </p:nvSpPr>
        <p:spPr>
          <a:xfrm>
            <a:off x="2381250" y="1097280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행동 · 대처 패턴</a:t>
            </a:r>
          </a:p>
        </p:txBody>
      </p:sp>
      <p:sp>
        <p:nvSpPr>
          <p:cNvPr id="12" name="analysis-1-right">
            <a:extLst>
              <a:ext uri="{FF2B5EF4-FFF2-40B4-BE49-F238E27FC236}">
                <a16:creationId xmlns:a16="http://schemas.microsoft.com/office/drawing/2014/main" id="{EFE0006C-B7F6-4281-9EE7-263031CC6DAD}"/>
              </a:ext>
            </a:extLst>
          </p:cNvPr>
          <p:cNvSpPr>
            <a:spLocks noGrp="1"/>
          </p:cNvSpPr>
          <p:nvPr/>
        </p:nvSpPr>
        <p:spPr>
          <a:xfrm>
            <a:off x="7767638" y="1097280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내면의 기대</a:t>
            </a:r>
          </a:p>
        </p:txBody>
      </p:sp>
      <p:sp>
        <p:nvSpPr>
          <p:cNvPr id="13" name="analysis-row-2">
            <a:extLst>
              <a:ext uri="{FF2B5EF4-FFF2-40B4-BE49-F238E27FC236}">
                <a16:creationId xmlns:a16="http://schemas.microsoft.com/office/drawing/2014/main" id="{1D00644E-EB46-47B0-BE9A-90DD953D6366}"/>
              </a:ext>
            </a:extLst>
          </p:cNvPr>
          <p:cNvSpPr>
            <a:spLocks noGrp="1"/>
          </p:cNvSpPr>
          <p:nvPr/>
        </p:nvSpPr>
        <p:spPr>
          <a:xfrm>
            <a:off x="2381250" y="11963400"/>
            <a:ext cx="10353675" cy="190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nalysis-2-left">
            <a:extLst>
              <a:ext uri="{FF2B5EF4-FFF2-40B4-BE49-F238E27FC236}">
                <a16:creationId xmlns:a16="http://schemas.microsoft.com/office/drawing/2014/main" id="{37D4733D-E15D-4D9B-A293-8F7AFD77BE70}"/>
              </a:ext>
            </a:extLst>
          </p:cNvPr>
          <p:cNvSpPr>
            <a:spLocks noGrp="1"/>
          </p:cNvSpPr>
          <p:nvPr/>
        </p:nvSpPr>
        <p:spPr>
          <a:xfrm>
            <a:off x="2381250" y="120967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숨은 열망</a:t>
            </a:r>
          </a:p>
        </p:txBody>
      </p:sp>
      <p:sp>
        <p:nvSpPr>
          <p:cNvPr id="15" name="analysis-2-right">
            <a:extLst>
              <a:ext uri="{FF2B5EF4-FFF2-40B4-BE49-F238E27FC236}">
                <a16:creationId xmlns:a16="http://schemas.microsoft.com/office/drawing/2014/main" id="{121FFB25-E8A1-4E4F-9E17-AE627E382AE7}"/>
              </a:ext>
            </a:extLst>
          </p:cNvPr>
          <p:cNvSpPr>
            <a:spLocks noGrp="1"/>
          </p:cNvSpPr>
          <p:nvPr/>
        </p:nvSpPr>
        <p:spPr>
          <a:xfrm>
            <a:off x="7767638" y="120967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가치 · 자아 탐색</a:t>
            </a:r>
          </a:p>
        </p:txBody>
      </p:sp>
      <p:sp>
        <p:nvSpPr>
          <p:cNvPr id="16" name="analysis-center-rule">
            <a:extLst>
              <a:ext uri="{FF2B5EF4-FFF2-40B4-BE49-F238E27FC236}">
                <a16:creationId xmlns:a16="http://schemas.microsoft.com/office/drawing/2014/main" id="{97BF87ED-EFB5-4A22-A494-053B52929202}"/>
              </a:ext>
            </a:extLst>
          </p:cNvPr>
          <p:cNvSpPr>
            <a:spLocks noGrp="1"/>
          </p:cNvSpPr>
          <p:nvPr/>
        </p:nvSpPr>
        <p:spPr>
          <a:xfrm>
            <a:off x="7548563" y="9925050"/>
            <a:ext cx="19050" cy="29527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ection-rule-bottom">
            <a:extLst>
              <a:ext uri="{FF2B5EF4-FFF2-40B4-BE49-F238E27FC236}">
                <a16:creationId xmlns:a16="http://schemas.microsoft.com/office/drawing/2014/main" id="{64A50EA5-C350-469C-A9C8-85049EC263FB}"/>
              </a:ext>
            </a:extLst>
          </p:cNvPr>
          <p:cNvSpPr>
            <a:spLocks noGrp="1"/>
          </p:cNvSpPr>
          <p:nvPr/>
        </p:nvSpPr>
        <p:spPr>
          <a:xfrm>
            <a:off x="2857500" y="13382625"/>
            <a:ext cx="9401175" cy="28575"/>
          </a:xfrm>
          <a:prstGeom prst="rect">
            <a:avLst/>
          </a:prstGeom>
          <a:solidFill>
            <a:srgbClr val="B7934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ontact">
            <a:extLst>
              <a:ext uri="{FF2B5EF4-FFF2-40B4-BE49-F238E27FC236}">
                <a16:creationId xmlns:a16="http://schemas.microsoft.com/office/drawing/2014/main" id="{C2ED85E7-26AC-4FB4-9495-540C57BB4C05}"/>
              </a:ext>
            </a:extLst>
          </p:cNvPr>
          <p:cNvSpPr>
            <a:spLocks noGrp="1"/>
          </p:cNvSpPr>
          <p:nvPr/>
        </p:nvSpPr>
        <p:spPr>
          <a:xfrm>
            <a:off x="2476500" y="13906500"/>
            <a:ext cx="10163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675" b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dirty="0" err="1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상담문의</a:t>
            </a:r>
            <a:r>
              <a:rPr sz="3675" b="1" dirty="0">
                <a:solidFill>
                  <a:srgbClr val="FFFDF5"/>
                </a:solidFill>
                <a:latin typeface="Apple SD Gothic Neo"/>
                <a:ea typeface="Apple SD Gothic Neo"/>
                <a:cs typeface="Apple SD Gothic Neo"/>
              </a:rPr>
              <a:t>  PuBaO</a:t>
            </a:r>
          </a:p>
        </p:txBody>
      </p:sp>
      <p:sp>
        <p:nvSpPr>
          <p:cNvPr id="19" name="qr-frame">
            <a:extLst>
              <a:ext uri="{FF2B5EF4-FFF2-40B4-BE49-F238E27FC236}">
                <a16:creationId xmlns:a16="http://schemas.microsoft.com/office/drawing/2014/main" id="{4F6B7695-F82A-4308-8752-1DDEC2DEFAA5}"/>
              </a:ext>
            </a:extLst>
          </p:cNvPr>
          <p:cNvSpPr>
            <a:spLocks noGrp="1"/>
          </p:cNvSpPr>
          <p:nvPr/>
        </p:nvSpPr>
        <p:spPr>
          <a:xfrm>
            <a:off x="6110288" y="14763750"/>
            <a:ext cx="2895600" cy="2895600"/>
          </a:xfrm>
          <a:prstGeom prst="roundRect">
            <a:avLst>
              <a:gd name="adj" fmla="val 2632"/>
            </a:avLst>
          </a:prstGeom>
          <a:solidFill>
            <a:srgbClr val="FFFDF5"/>
          </a:solidFill>
          <a:ln w="28575">
            <a:solidFill>
              <a:srgbClr val="B793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72213" y="14925675"/>
            <a:ext cx="2571750" cy="2571750"/>
          </a:xfrm>
          <a:prstGeom prst="rect">
            <a:avLst/>
          </a:prstGeom>
        </p:spPr>
      </p:pic>
      <p:sp>
        <p:nvSpPr>
          <p:cNvPr id="21" name="qr-caption">
            <a:extLst>
              <a:ext uri="{FF2B5EF4-FFF2-40B4-BE49-F238E27FC236}">
                <a16:creationId xmlns:a16="http://schemas.microsoft.com/office/drawing/2014/main" id="{C2268744-FD41-4AEC-8BBD-D4B2343434FA}"/>
              </a:ext>
            </a:extLst>
          </p:cNvPr>
          <p:cNvSpPr>
            <a:spLocks noGrp="1"/>
          </p:cNvSpPr>
          <p:nvPr/>
        </p:nvSpPr>
        <p:spPr>
          <a:xfrm>
            <a:off x="2381250" y="17868900"/>
            <a:ext cx="1035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325" b="1">
                <a:solidFill>
                  <a:srgbClr val="D3B6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D3B66B"/>
                </a:solidFill>
                <a:latin typeface="Apple SD Gothic Neo"/>
                <a:ea typeface="Apple SD Gothic Neo"/>
                <a:cs typeface="Apple SD Gothic Neo"/>
              </a:rPr>
              <a:t>GitHub에서 프로젝트 보기</a:t>
            </a:r>
          </a:p>
        </p:txBody>
      </p:sp>
      <p:sp>
        <p:nvSpPr>
          <p:cNvPr id="22" name="qr-url">
            <a:extLst>
              <a:ext uri="{FF2B5EF4-FFF2-40B4-BE49-F238E27FC236}">
                <a16:creationId xmlns:a16="http://schemas.microsoft.com/office/drawing/2014/main" id="{C001D718-7723-40EC-94DE-75EC342AF624}"/>
              </a:ext>
            </a:extLst>
          </p:cNvPr>
          <p:cNvSpPr>
            <a:spLocks noGrp="1"/>
          </p:cNvSpPr>
          <p:nvPr/>
        </p:nvSpPr>
        <p:spPr>
          <a:xfrm>
            <a:off x="2476500" y="18307050"/>
            <a:ext cx="10163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1875" b="1">
                <a:solidFill>
                  <a:srgbClr val="C8C0AB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>
                <a:solidFill>
                  <a:srgbClr val="C8C0AB"/>
                </a:solidFill>
                <a:latin typeface="DIN Condensed"/>
                <a:ea typeface="DIN Condensed"/>
                <a:cs typeface="DIN Condensed"/>
              </a:rPr>
              <a:t>github.com/mgusdn/chatbot</a:t>
            </a: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-199525" y="5095875"/>
            <a:ext cx="15934326" cy="23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t="4500"/>
          <a:stretch>
            <a:fillRect/>
          </a:stretch>
        </p:blipFill>
        <p:spPr>
          <a:xfrm>
            <a:off x="0" y="0"/>
            <a:ext cx="15116175" cy="21383625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20B46048-AEFE-4852-8298-28A53F7DBB7C}"/>
              </a:ext>
            </a:extLst>
          </p:cNvPr>
          <p:cNvSpPr>
            <a:spLocks noGrp="1"/>
          </p:cNvSpPr>
          <p:nvPr/>
        </p:nvSpPr>
        <p:spPr>
          <a:xfrm>
            <a:off x="2476500" y="7477125"/>
            <a:ext cx="101631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SATIR ICEBERG MODEL × AI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1650C962-D092-4189-82C3-38133900E234}"/>
              </a:ext>
            </a:extLst>
          </p:cNvPr>
          <p:cNvSpPr>
            <a:spLocks noGrp="1"/>
          </p:cNvSpPr>
          <p:nvPr/>
        </p:nvSpPr>
        <p:spPr>
          <a:xfrm>
            <a:off x="1143000" y="8096250"/>
            <a:ext cx="1283017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9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타로 &amp; 사주</a:t>
            </a:r>
          </a:p>
        </p:txBody>
      </p:sp>
      <p:sp>
        <p:nvSpPr>
          <p:cNvPr id="4" name="hook">
            <a:extLst>
              <a:ext uri="{FF2B5EF4-FFF2-40B4-BE49-F238E27FC236}">
                <a16:creationId xmlns:a16="http://schemas.microsoft.com/office/drawing/2014/main" id="{7A75F0B7-5218-43F0-9917-BF70A47FB5DD}"/>
              </a:ext>
            </a:extLst>
          </p:cNvPr>
          <p:cNvSpPr>
            <a:spLocks noGrp="1"/>
          </p:cNvSpPr>
          <p:nvPr/>
        </p:nvSpPr>
        <p:spPr>
          <a:xfrm>
            <a:off x="1714500" y="9667875"/>
            <a:ext cx="116871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6300" b="1">
                <a:solidFill>
                  <a:srgbClr val="C95F5D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5" name="descriptor">
            <a:extLst>
              <a:ext uri="{FF2B5EF4-FFF2-40B4-BE49-F238E27FC236}">
                <a16:creationId xmlns:a16="http://schemas.microsoft.com/office/drawing/2014/main" id="{B4DF73EA-BCFA-4265-A398-27D580830A70}"/>
              </a:ext>
            </a:extLst>
          </p:cNvPr>
          <p:cNvSpPr>
            <a:spLocks noGrp="1"/>
          </p:cNvSpPr>
          <p:nvPr/>
        </p:nvSpPr>
        <p:spPr>
          <a:xfrm>
            <a:off x="2143125" y="10906125"/>
            <a:ext cx="108299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7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사티어 빙산모델로 나를 이해해봐요</a:t>
            </a:r>
          </a:p>
        </p:txBody>
      </p:sp>
      <p:sp>
        <p:nvSpPr>
          <p:cNvPr id="6" name="section-rule-top">
            <a:extLst>
              <a:ext uri="{FF2B5EF4-FFF2-40B4-BE49-F238E27FC236}">
                <a16:creationId xmlns:a16="http://schemas.microsoft.com/office/drawing/2014/main" id="{9FD96837-8CD0-4201-BF38-CB2DB8717DD6}"/>
              </a:ext>
            </a:extLst>
          </p:cNvPr>
          <p:cNvSpPr>
            <a:spLocks noGrp="1"/>
          </p:cNvSpPr>
          <p:nvPr/>
        </p:nvSpPr>
        <p:spPr>
          <a:xfrm>
            <a:off x="2905125" y="11763375"/>
            <a:ext cx="9305925" cy="28575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nalysis-label">
            <a:extLst>
              <a:ext uri="{FF2B5EF4-FFF2-40B4-BE49-F238E27FC236}">
                <a16:creationId xmlns:a16="http://schemas.microsoft.com/office/drawing/2014/main" id="{E232DBC8-B88D-4DC5-A7A2-CE6A207EB369}"/>
              </a:ext>
            </a:extLst>
          </p:cNvPr>
          <p:cNvSpPr>
            <a:spLocks noGrp="1"/>
          </p:cNvSpPr>
          <p:nvPr/>
        </p:nvSpPr>
        <p:spPr>
          <a:xfrm>
            <a:off x="4286250" y="12020550"/>
            <a:ext cx="6543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6가지 내면 분석</a:t>
            </a:r>
          </a:p>
        </p:txBody>
      </p:sp>
      <p:sp>
        <p:nvSpPr>
          <p:cNvPr id="8" name="analysis-0-left">
            <a:extLst>
              <a:ext uri="{FF2B5EF4-FFF2-40B4-BE49-F238E27FC236}">
                <a16:creationId xmlns:a16="http://schemas.microsoft.com/office/drawing/2014/main" id="{06F14C2F-CB2D-4E57-9FC9-568B569FED09}"/>
              </a:ext>
            </a:extLst>
          </p:cNvPr>
          <p:cNvSpPr>
            <a:spLocks noGrp="1"/>
          </p:cNvSpPr>
          <p:nvPr/>
        </p:nvSpPr>
        <p:spPr>
          <a:xfrm>
            <a:off x="2190750" y="128016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감정 · 상처 분석</a:t>
            </a:r>
          </a:p>
        </p:txBody>
      </p:sp>
      <p:sp>
        <p:nvSpPr>
          <p:cNvPr id="9" name="analysis-0-right">
            <a:extLst>
              <a:ext uri="{FF2B5EF4-FFF2-40B4-BE49-F238E27FC236}">
                <a16:creationId xmlns:a16="http://schemas.microsoft.com/office/drawing/2014/main" id="{D4563B98-B844-4526-9447-35CE2AD9278C}"/>
              </a:ext>
            </a:extLst>
          </p:cNvPr>
          <p:cNvSpPr>
            <a:spLocks noGrp="1"/>
          </p:cNvSpPr>
          <p:nvPr/>
        </p:nvSpPr>
        <p:spPr>
          <a:xfrm>
            <a:off x="7767638" y="128016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생각 · 지각 분석</a:t>
            </a:r>
          </a:p>
        </p:txBody>
      </p:sp>
      <p:sp>
        <p:nvSpPr>
          <p:cNvPr id="10" name="analysis-row-1">
            <a:extLst>
              <a:ext uri="{FF2B5EF4-FFF2-40B4-BE49-F238E27FC236}">
                <a16:creationId xmlns:a16="http://schemas.microsoft.com/office/drawing/2014/main" id="{F94FA4D3-A628-40A1-8F08-94D5A225F6C9}"/>
              </a:ext>
            </a:extLst>
          </p:cNvPr>
          <p:cNvSpPr>
            <a:spLocks noGrp="1"/>
          </p:cNvSpPr>
          <p:nvPr/>
        </p:nvSpPr>
        <p:spPr>
          <a:xfrm>
            <a:off x="2190750" y="13544550"/>
            <a:ext cx="10734675" cy="1905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nalysis-1-left">
            <a:extLst>
              <a:ext uri="{FF2B5EF4-FFF2-40B4-BE49-F238E27FC236}">
                <a16:creationId xmlns:a16="http://schemas.microsoft.com/office/drawing/2014/main" id="{16264622-A35A-4F1A-A22F-2B1D0C6FFDAB}"/>
              </a:ext>
            </a:extLst>
          </p:cNvPr>
          <p:cNvSpPr>
            <a:spLocks noGrp="1"/>
          </p:cNvSpPr>
          <p:nvPr/>
        </p:nvSpPr>
        <p:spPr>
          <a:xfrm>
            <a:off x="2190750" y="136779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행동 · 대처 패턴</a:t>
            </a:r>
          </a:p>
        </p:txBody>
      </p:sp>
      <p:sp>
        <p:nvSpPr>
          <p:cNvPr id="12" name="analysis-1-right">
            <a:extLst>
              <a:ext uri="{FF2B5EF4-FFF2-40B4-BE49-F238E27FC236}">
                <a16:creationId xmlns:a16="http://schemas.microsoft.com/office/drawing/2014/main" id="{57EB5BF4-268B-47E3-955A-3AC34F4FBBBD}"/>
              </a:ext>
            </a:extLst>
          </p:cNvPr>
          <p:cNvSpPr>
            <a:spLocks noGrp="1"/>
          </p:cNvSpPr>
          <p:nvPr/>
        </p:nvSpPr>
        <p:spPr>
          <a:xfrm>
            <a:off x="7767638" y="136779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내면의 기대</a:t>
            </a:r>
          </a:p>
        </p:txBody>
      </p:sp>
      <p:sp>
        <p:nvSpPr>
          <p:cNvPr id="13" name="analysis-row-2">
            <a:extLst>
              <a:ext uri="{FF2B5EF4-FFF2-40B4-BE49-F238E27FC236}">
                <a16:creationId xmlns:a16="http://schemas.microsoft.com/office/drawing/2014/main" id="{BBF04F80-9B69-49C1-9AA3-B20308D80D0C}"/>
              </a:ext>
            </a:extLst>
          </p:cNvPr>
          <p:cNvSpPr>
            <a:spLocks noGrp="1"/>
          </p:cNvSpPr>
          <p:nvPr/>
        </p:nvSpPr>
        <p:spPr>
          <a:xfrm>
            <a:off x="2190750" y="14420850"/>
            <a:ext cx="10734675" cy="1905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nalysis-2-left">
            <a:extLst>
              <a:ext uri="{FF2B5EF4-FFF2-40B4-BE49-F238E27FC236}">
                <a16:creationId xmlns:a16="http://schemas.microsoft.com/office/drawing/2014/main" id="{9F609E76-6D62-4F30-8517-C3D033623AB6}"/>
              </a:ext>
            </a:extLst>
          </p:cNvPr>
          <p:cNvSpPr>
            <a:spLocks noGrp="1"/>
          </p:cNvSpPr>
          <p:nvPr/>
        </p:nvSpPr>
        <p:spPr>
          <a:xfrm>
            <a:off x="2190750" y="145542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숨은 열망</a:t>
            </a:r>
          </a:p>
        </p:txBody>
      </p:sp>
      <p:sp>
        <p:nvSpPr>
          <p:cNvPr id="15" name="analysis-2-right">
            <a:extLst>
              <a:ext uri="{FF2B5EF4-FFF2-40B4-BE49-F238E27FC236}">
                <a16:creationId xmlns:a16="http://schemas.microsoft.com/office/drawing/2014/main" id="{8C6CD36E-0CE7-472F-9CE7-C2513EA6D6FA}"/>
              </a:ext>
            </a:extLst>
          </p:cNvPr>
          <p:cNvSpPr>
            <a:spLocks noGrp="1"/>
          </p:cNvSpPr>
          <p:nvPr/>
        </p:nvSpPr>
        <p:spPr>
          <a:xfrm>
            <a:off x="7767638" y="145542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가치 · 자아 탐색</a:t>
            </a:r>
          </a:p>
        </p:txBody>
      </p:sp>
      <p:sp>
        <p:nvSpPr>
          <p:cNvPr id="16" name="analysis-center-rule">
            <a:extLst>
              <a:ext uri="{FF2B5EF4-FFF2-40B4-BE49-F238E27FC236}">
                <a16:creationId xmlns:a16="http://schemas.microsoft.com/office/drawing/2014/main" id="{5F10F3B8-ECEA-46C8-AC06-FB2CE143FBE5}"/>
              </a:ext>
            </a:extLst>
          </p:cNvPr>
          <p:cNvSpPr>
            <a:spLocks noGrp="1"/>
          </p:cNvSpPr>
          <p:nvPr/>
        </p:nvSpPr>
        <p:spPr>
          <a:xfrm>
            <a:off x="7548563" y="12877800"/>
            <a:ext cx="19050" cy="220980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ection-rule-bottom">
            <a:extLst>
              <a:ext uri="{FF2B5EF4-FFF2-40B4-BE49-F238E27FC236}">
                <a16:creationId xmlns:a16="http://schemas.microsoft.com/office/drawing/2014/main" id="{D18DADDE-D3BF-4380-ABDA-43A4B0B27CE2}"/>
              </a:ext>
            </a:extLst>
          </p:cNvPr>
          <p:cNvSpPr>
            <a:spLocks noGrp="1"/>
          </p:cNvSpPr>
          <p:nvPr/>
        </p:nvSpPr>
        <p:spPr>
          <a:xfrm>
            <a:off x="2905125" y="15621000"/>
            <a:ext cx="9305925" cy="28575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ontact">
            <a:extLst>
              <a:ext uri="{FF2B5EF4-FFF2-40B4-BE49-F238E27FC236}">
                <a16:creationId xmlns:a16="http://schemas.microsoft.com/office/drawing/2014/main" id="{561EF7A4-9D3C-4B93-B6B6-5C0F78351AB0}"/>
              </a:ext>
            </a:extLst>
          </p:cNvPr>
          <p:cNvSpPr>
            <a:spLocks noGrp="1"/>
          </p:cNvSpPr>
          <p:nvPr/>
        </p:nvSpPr>
        <p:spPr>
          <a:xfrm>
            <a:off x="2476500" y="15859125"/>
            <a:ext cx="10163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6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상담문의</a:t>
            </a:r>
            <a:r>
              <a:rPr sz="36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PuBaO</a:t>
            </a:r>
          </a:p>
        </p:txBody>
      </p:sp>
      <p:sp>
        <p:nvSpPr>
          <p:cNvPr id="19" name="qr-frame">
            <a:extLst>
              <a:ext uri="{FF2B5EF4-FFF2-40B4-BE49-F238E27FC236}">
                <a16:creationId xmlns:a16="http://schemas.microsoft.com/office/drawing/2014/main" id="{FE48A12F-7938-4F74-ADDD-1D25DED6FB35}"/>
              </a:ext>
            </a:extLst>
          </p:cNvPr>
          <p:cNvSpPr>
            <a:spLocks noGrp="1"/>
          </p:cNvSpPr>
          <p:nvPr/>
        </p:nvSpPr>
        <p:spPr>
          <a:xfrm>
            <a:off x="6229350" y="16716375"/>
            <a:ext cx="2657475" cy="2657475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91275" y="16878300"/>
            <a:ext cx="2333625" cy="2333625"/>
          </a:xfrm>
          <a:prstGeom prst="rect">
            <a:avLst/>
          </a:prstGeom>
        </p:spPr>
      </p:pic>
      <p:sp>
        <p:nvSpPr>
          <p:cNvPr id="21" name="qr-caption">
            <a:extLst>
              <a:ext uri="{FF2B5EF4-FFF2-40B4-BE49-F238E27FC236}">
                <a16:creationId xmlns:a16="http://schemas.microsoft.com/office/drawing/2014/main" id="{EEAD55C8-E852-4FCA-B402-C91C357CC145}"/>
              </a:ext>
            </a:extLst>
          </p:cNvPr>
          <p:cNvSpPr>
            <a:spLocks noGrp="1"/>
          </p:cNvSpPr>
          <p:nvPr/>
        </p:nvSpPr>
        <p:spPr>
          <a:xfrm>
            <a:off x="2381250" y="19583400"/>
            <a:ext cx="1035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GitHub에서 프로젝트 보기</a:t>
            </a:r>
          </a:p>
        </p:txBody>
      </p:sp>
      <p:sp>
        <p:nvSpPr>
          <p:cNvPr id="22" name="qr-url">
            <a:extLst>
              <a:ext uri="{FF2B5EF4-FFF2-40B4-BE49-F238E27FC236}">
                <a16:creationId xmlns:a16="http://schemas.microsoft.com/office/drawing/2014/main" id="{A63697EB-B6E4-4508-AFEF-F7584D818858}"/>
              </a:ext>
            </a:extLst>
          </p:cNvPr>
          <p:cNvSpPr>
            <a:spLocks noGrp="1"/>
          </p:cNvSpPr>
          <p:nvPr/>
        </p:nvSpPr>
        <p:spPr>
          <a:xfrm>
            <a:off x="2476500" y="20021550"/>
            <a:ext cx="10163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875" b="1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github.com/mgusdn/chatbot</a:t>
            </a: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-799137" y="9018579"/>
            <a:ext cx="17133549" cy="23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7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Macintosh PowerPoint</Application>
  <DocSecurity>0</DocSecurity>
  <PresentationFormat>사용자 지정</PresentationFormat>
  <Paragraphs>46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Apple SD Gothic Neo</vt:lpstr>
      <vt:lpstr>Calibri</vt:lpstr>
      <vt:lpstr>DIN Condensed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윤지찬</cp:lastModifiedBy>
  <cp:revision>3</cp:revision>
  <dcterms:created xsi:type="dcterms:W3CDTF">2026-08-05T03:34:50Z</dcterms:created>
  <dcterms:modified xsi:type="dcterms:W3CDTF">2026-08-05T03:42:16Z</dcterms:modified>
</cp:coreProperties>
</file>