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99924431914ae9" /><Relationship Type="http://schemas.openxmlformats.org/officeDocument/2006/relationships/extended-properties" Target="/docProps/app.xml" Id="R6fc59d8c1d704b1a" /><Relationship Type="http://schemas.openxmlformats.org/officeDocument/2006/relationships/officeDocument" Target="/ppt/presentation.xml" Id="Rc7ef840f21d0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41c5b130b3400f"/>
  </p:sldMasterIdLst>
  <p:notesMasterIdLst>
    <p:notesMasterId xmlns:r="http://schemas.openxmlformats.org/officeDocument/2006/relationships" r:id="R171606f659ef4a44"/>
  </p:notesMasterIdLst>
  <p:sldIdLst>
    <p:sldId xmlns:r="http://schemas.openxmlformats.org/officeDocument/2006/relationships" id="256" r:id="Rcacdaa66986f4068"/>
    <p:sldId xmlns:r="http://schemas.openxmlformats.org/officeDocument/2006/relationships" id="257" r:id="R4dfe41552f67461a"/>
    <p:sldId xmlns:r="http://schemas.openxmlformats.org/officeDocument/2006/relationships" id="258" r:id="Rb14be0cf227647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cbdd885a09458b" /><Relationship Type="http://schemas.openxmlformats.org/officeDocument/2006/relationships/slideMaster" Target="/ppt/slideMasters/slideMaster1.xml" Id="Rb441c5b130b3400f" /><Relationship Type="http://schemas.openxmlformats.org/officeDocument/2006/relationships/notesMaster" Target="/ppt/notesMasters/notesMaster1.xml" Id="R171606f659ef4a44" /><Relationship Type="http://schemas.openxmlformats.org/officeDocument/2006/relationships/presProps" Target="/ppt/presProps.xml" Id="R2ae19e1a6dc44005" /><Relationship Type="http://schemas.openxmlformats.org/officeDocument/2006/relationships/tableStyles" Target="/ppt/tableStyles.xml" Id="R89e6fa0f12b7459f" /><Relationship Type="http://schemas.openxmlformats.org/officeDocument/2006/relationships/slide" Target="/ppt/slides/slide1.xml" Id="Rcacdaa66986f4068" /><Relationship Type="http://schemas.openxmlformats.org/officeDocument/2006/relationships/slide" Target="/ppt/slides/slide2.xml" Id="R4dfe41552f67461a" /><Relationship Type="http://schemas.openxmlformats.org/officeDocument/2006/relationships/slide" Target="/ppt/slides/slide3.xml" Id="Rb14be0cf227647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6f2fdbe6b646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f6a47a0082434c" /><Relationship Type="http://schemas.openxmlformats.org/officeDocument/2006/relationships/notesMaster" Target="/ppt/notesMasters/notesMaster1.xml" Id="R1e6d6963d590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1a46bc8c864ec2" /><Relationship Type="http://schemas.openxmlformats.org/officeDocument/2006/relationships/notesMaster" Target="/ppt/notesMasters/notesMaster1.xml" Id="R2ee4c57bacc4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d27bd3d204fe5" /><Relationship Type="http://schemas.openxmlformats.org/officeDocument/2006/relationships/notesMaster" Target="/ppt/notesMasters/notesMaster1.xml" Id="R53b508b0c5fa41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e636a605b49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4e8e581108455e" /><Relationship Type="http://schemas.openxmlformats.org/officeDocument/2006/relationships/slideLayout" Target="/ppt/slideLayouts/slideLayout1.xml" Id="R66c796d02b5646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c796d02b5646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4bdc13de14268" /><Relationship Type="http://schemas.openxmlformats.org/officeDocument/2006/relationships/notesSlide" Target="/ppt/notesSlides/notesSlide1.xml" Id="Rb4d8a6cae5c640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edaad3fae4d72" /><Relationship Type="http://schemas.openxmlformats.org/officeDocument/2006/relationships/notesSlide" Target="/ppt/notesSlides/notesSlide2.xml" Id="R74c9d212595448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862cb6cfe4c72" /><Relationship Type="http://schemas.openxmlformats.org/officeDocument/2006/relationships/notesSlide" Target="/ppt/notesSlides/notesSlide3.xml" Id="R450623e32ab942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-zone">
            <a:extLst xmlns:a="http://schemas.openxmlformats.org/drawingml/2006/main">
              <a:ext uri="{FF2B5EF4-FFF2-40B4-BE49-F238E27FC236}">
                <a16:creationId xmlns:a16="http://schemas.microsoft.com/office/drawing/2014/main" id="{29164DFB-06BC-4A93-9561-D5D98066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chnology-zone">
            <a:extLst xmlns:a="http://schemas.openxmlformats.org/drawingml/2006/main">
              <a:ext uri="{FF2B5EF4-FFF2-40B4-BE49-F238E27FC236}">
                <a16:creationId xmlns:a16="http://schemas.microsoft.com/office/drawing/2014/main" id="{02B77F6C-FFAC-41CB-8E63-C5D573D7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sult-zone">
            <a:extLst xmlns:a="http://schemas.openxmlformats.org/drawingml/2006/main">
              <a:ext uri="{FF2B5EF4-FFF2-40B4-BE49-F238E27FC236}">
                <a16:creationId xmlns:a16="http://schemas.microsoft.com/office/drawing/2014/main" id="{3664A260-1F2D-4747-AC49-F826EEF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00650"/>
            <a:ext cx="12192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40ACC-477A-4884-AE5A-818EB61E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9FBE"/>
                </a:solidFill>
              </a:defRPr>
            </a:pPr>
            <a:r>
              <a:rPr sz="1050" b="1">
                <a:solidFill>
                  <a:srgbClr val="5D9FBE"/>
                </a:solidFill>
              </a:rPr>
              <a:t>COLOR DRAFT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9B85-3775-4931-B83C-272CF0A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723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4737"/>
                </a:solidFill>
              </a:defRPr>
            </a:pPr>
            <a:r>
              <a:rPr sz="2850" b="1">
                <a:solidFill>
                  <a:srgbClr val="294737"/>
                </a:solidFill>
              </a:rPr>
              <a:t>Forest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E17B8-FD39-4CA1-A507-FB97CAC1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805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62"/>
                </a:solidFill>
              </a:defRPr>
            </a:pPr>
            <a:r>
              <a:rPr sz="1200">
                <a:solidFill>
                  <a:srgbClr val="5E6B62"/>
                </a:solidFill>
              </a:rPr>
              <a:t>현재 서비스의 숲·크림 톤을 정제한, 가장 균형 잡힌 기술 패널</a:t>
            </a:r>
          </a:p>
        </p:txBody>
      </p:sp>
      <p:sp>
        <p:nvSpPr>
          <p:cNvPr id="7" name="card-LLM">
            <a:extLst xmlns:a="http://schemas.openxmlformats.org/drawingml/2006/main">
              <a:ext uri="{FF2B5EF4-FFF2-40B4-BE49-F238E27FC236}">
                <a16:creationId xmlns:a16="http://schemas.microsoft.com/office/drawing/2014/main" id="{E12A24B2-772B-43EA-B571-2C31CEE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8" name="tab-LLM">
            <a:extLst xmlns:a="http://schemas.openxmlformats.org/drawingml/2006/main">
              <a:ext uri="{FF2B5EF4-FFF2-40B4-BE49-F238E27FC236}">
                <a16:creationId xmlns:a16="http://schemas.microsoft.com/office/drawing/2014/main" id="{E7265803-F40E-4C85-B3DA-A96B86A0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69918-A4D4-4F2D-B93C-4AEE261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47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9FBE"/>
                </a:solidFill>
              </a:defRPr>
            </a:pPr>
            <a:r>
              <a:rPr sz="1275" b="1">
                <a:solidFill>
                  <a:srgbClr val="5D9FBE"/>
                </a:solidFill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57658-4D45-4C62-8E8A-3A77A55B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4737"/>
                </a:solidFill>
              </a:defRPr>
            </a:pPr>
            <a:r>
              <a:rPr sz="1350" b="1">
                <a:solidFill>
                  <a:srgbClr val="294737"/>
                </a:solidFill>
              </a:rPr>
              <a:t>공감 선출력 · 구조화 판단</a:t>
            </a:r>
          </a:p>
        </p:txBody>
      </p:sp>
      <p:sp>
        <p:nvSpPr>
          <p:cNvPr id="11" name="signal-a-LLM">
            <a:extLst xmlns:a="http://schemas.openxmlformats.org/drawingml/2006/main">
              <a:ext uri="{FF2B5EF4-FFF2-40B4-BE49-F238E27FC236}">
                <a16:creationId xmlns:a16="http://schemas.microsoft.com/office/drawing/2014/main" id="{5E88EA4D-C2B3-434C-87D0-06E57280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9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ignal-b-LLM">
            <a:extLst xmlns:a="http://schemas.openxmlformats.org/drawingml/2006/main">
              <a:ext uri="{FF2B5EF4-FFF2-40B4-BE49-F238E27FC236}">
                <a16:creationId xmlns:a16="http://schemas.microsoft.com/office/drawing/2014/main" id="{772893D2-F44A-4A67-B7FF-DBBDC8D7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24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ignal-c-LLM">
            <a:extLst xmlns:a="http://schemas.openxmlformats.org/drawingml/2006/main">
              <a:ext uri="{FF2B5EF4-FFF2-40B4-BE49-F238E27FC236}">
                <a16:creationId xmlns:a16="http://schemas.microsoft.com/office/drawing/2014/main" id="{379B5694-4E2B-4BB2-8E39-CD409F6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24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B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TS">
            <a:extLst xmlns:a="http://schemas.openxmlformats.org/drawingml/2006/main">
              <a:ext uri="{FF2B5EF4-FFF2-40B4-BE49-F238E27FC236}">
                <a16:creationId xmlns:a16="http://schemas.microsoft.com/office/drawing/2014/main" id="{6D93B097-ED20-45A3-ABBC-CF7BBAEA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15" name="tab-TTS">
            <a:extLst xmlns:a="http://schemas.openxmlformats.org/drawingml/2006/main">
              <a:ext uri="{FF2B5EF4-FFF2-40B4-BE49-F238E27FC236}">
                <a16:creationId xmlns:a16="http://schemas.microsoft.com/office/drawing/2014/main" id="{AC55224E-0540-4542-BF7F-8DF69C0F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71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A6BB6-CC57-446D-A167-7B70FABC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9FBE"/>
                </a:solidFill>
              </a:defRPr>
            </a:pPr>
            <a:r>
              <a:rPr sz="1275" b="1">
                <a:solidFill>
                  <a:srgbClr val="5D9FBE"/>
                </a:solidFill>
              </a:rPr>
              <a:t>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87C0E-B320-4033-AFAB-C584B41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24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4737"/>
                </a:solidFill>
              </a:defRPr>
            </a:pPr>
            <a:r>
              <a:rPr sz="1350" b="1">
                <a:solidFill>
                  <a:srgbClr val="294737"/>
                </a:solidFill>
              </a:rPr>
              <a:t>GPT-SoVITS · 연속 음성 재생</a:t>
            </a:r>
          </a:p>
        </p:txBody>
      </p:sp>
      <p:sp>
        <p:nvSpPr>
          <p:cNvPr id="18" name="signal-a-TTS">
            <a:extLst xmlns:a="http://schemas.openxmlformats.org/drawingml/2006/main">
              <a:ext uri="{FF2B5EF4-FFF2-40B4-BE49-F238E27FC236}">
                <a16:creationId xmlns:a16="http://schemas.microsoft.com/office/drawing/2014/main" id="{3289C278-5C07-491B-AC89-23C8FCCC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24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9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ignal-b-TTS">
            <a:extLst xmlns:a="http://schemas.openxmlformats.org/drawingml/2006/main">
              <a:ext uri="{FF2B5EF4-FFF2-40B4-BE49-F238E27FC236}">
                <a16:creationId xmlns:a16="http://schemas.microsoft.com/office/drawing/2014/main" id="{325698B7-BBDE-499B-A58D-06750FFE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24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ignal-c-TTS">
            <a:extLst xmlns:a="http://schemas.openxmlformats.org/drawingml/2006/main">
              <a:ext uri="{FF2B5EF4-FFF2-40B4-BE49-F238E27FC236}">
                <a16:creationId xmlns:a16="http://schemas.microsoft.com/office/drawing/2014/main" id="{81144F19-0D56-4631-8CD2-FA3C713C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24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B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STT + VAD">
            <a:extLst xmlns:a="http://schemas.openxmlformats.org/drawingml/2006/main">
              <a:ext uri="{FF2B5EF4-FFF2-40B4-BE49-F238E27FC236}">
                <a16:creationId xmlns:a16="http://schemas.microsoft.com/office/drawing/2014/main" id="{F899BCB3-7E20-4266-9839-EDEC8A1E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22" name="tab-STT + VAD">
            <a:extLst xmlns:a="http://schemas.openxmlformats.org/drawingml/2006/main">
              <a:ext uri="{FF2B5EF4-FFF2-40B4-BE49-F238E27FC236}">
                <a16:creationId xmlns:a16="http://schemas.microsoft.com/office/drawing/2014/main" id="{8C703E60-D7C1-4A60-9692-AB107BDF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E3E04-D3B7-4660-B280-86D29B7D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71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9FBE"/>
                </a:solidFill>
              </a:defRPr>
            </a:pPr>
            <a:r>
              <a:rPr sz="1275" b="1">
                <a:solidFill>
                  <a:srgbClr val="5D9FBE"/>
                </a:solidFill>
              </a:rPr>
              <a:t>STT + VAD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33E79-13C4-42AE-B943-89AC6E1B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4737"/>
                </a:solidFill>
              </a:defRPr>
            </a:pPr>
            <a:r>
              <a:rPr sz="1350" b="1">
                <a:solidFill>
                  <a:srgbClr val="294737"/>
                </a:solidFill>
              </a:rPr>
              <a:t>자동 발화 종료 · 턴테이킹</a:t>
            </a:r>
          </a:p>
        </p:txBody>
      </p:sp>
      <p:sp>
        <p:nvSpPr>
          <p:cNvPr id="25" name="signal-a-STT + VAD">
            <a:extLst xmlns:a="http://schemas.openxmlformats.org/drawingml/2006/main">
              <a:ext uri="{FF2B5EF4-FFF2-40B4-BE49-F238E27FC236}">
                <a16:creationId xmlns:a16="http://schemas.microsoft.com/office/drawing/2014/main" id="{3703BBA4-6194-4ECE-AAE9-A9981D6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48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9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ignal-b-STT + VAD">
            <a:extLst xmlns:a="http://schemas.openxmlformats.org/drawingml/2006/main">
              <a:ext uri="{FF2B5EF4-FFF2-40B4-BE49-F238E27FC236}">
                <a16:creationId xmlns:a16="http://schemas.microsoft.com/office/drawing/2014/main" id="{2BEA2CF0-C3CE-489A-BF25-22FFA378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448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ignal-c-STT + VAD">
            <a:extLst xmlns:a="http://schemas.openxmlformats.org/drawingml/2006/main">
              <a:ext uri="{FF2B5EF4-FFF2-40B4-BE49-F238E27FC236}">
                <a16:creationId xmlns:a16="http://schemas.microsoft.com/office/drawing/2014/main" id="{10D04020-5BEA-4707-AE23-BA99550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48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B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SERVICE FLOW">
            <a:extLst xmlns:a="http://schemas.openxmlformats.org/drawingml/2006/main">
              <a:ext uri="{FF2B5EF4-FFF2-40B4-BE49-F238E27FC236}">
                <a16:creationId xmlns:a16="http://schemas.microsoft.com/office/drawing/2014/main" id="{4848BF3D-CF1A-44F5-BE0A-E2453EB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29" name="tab-SERVICE FLOW">
            <a:extLst xmlns:a="http://schemas.openxmlformats.org/drawingml/2006/main">
              <a:ext uri="{FF2B5EF4-FFF2-40B4-BE49-F238E27FC236}">
                <a16:creationId xmlns:a16="http://schemas.microsoft.com/office/drawing/2014/main" id="{696E1993-D2E6-4F5C-A166-88F92F1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95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C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3CA748-8888-43EB-9B54-0B1127C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9FBE"/>
                </a:solidFill>
              </a:defRPr>
            </a:pPr>
            <a:r>
              <a:rPr sz="1275" b="1">
                <a:solidFill>
                  <a:srgbClr val="5D9FBE"/>
                </a:solidFill>
              </a:rPr>
              <a:t>SERVICE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DBBB7-BF7E-4BB1-95B2-3503EE4E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48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4737"/>
                </a:solidFill>
              </a:defRPr>
            </a:pPr>
            <a:r>
              <a:rPr sz="1350" b="1">
                <a:solidFill>
                  <a:srgbClr val="294737"/>
                </a:solidFill>
              </a:rPr>
              <a:t>편안한 자기 탐색 경험</a:t>
            </a:r>
          </a:p>
        </p:txBody>
      </p:sp>
      <p:sp>
        <p:nvSpPr>
          <p:cNvPr id="32" name="signal-a-SERVICE FLOW">
            <a:extLst xmlns:a="http://schemas.openxmlformats.org/drawingml/2006/main">
              <a:ext uri="{FF2B5EF4-FFF2-40B4-BE49-F238E27FC236}">
                <a16:creationId xmlns:a16="http://schemas.microsoft.com/office/drawing/2014/main" id="{ED3455B2-54D2-451A-8D76-C62B388D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48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9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ignal-b-SERVICE FLOW">
            <a:extLst xmlns:a="http://schemas.openxmlformats.org/drawingml/2006/main">
              <a:ext uri="{FF2B5EF4-FFF2-40B4-BE49-F238E27FC236}">
                <a16:creationId xmlns:a16="http://schemas.microsoft.com/office/drawing/2014/main" id="{F814D7A6-2C6E-4E43-9AA4-925EA0E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48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ignal-c-SERVICE FLOW">
            <a:extLst xmlns:a="http://schemas.openxmlformats.org/drawingml/2006/main">
              <a:ext uri="{FF2B5EF4-FFF2-40B4-BE49-F238E27FC236}">
                <a16:creationId xmlns:a16="http://schemas.microsoft.com/office/drawing/2014/main" id="{D58CC4EA-E7BC-45B1-9DD7-41B8867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48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B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5F135-A2B4-4FD4-B340-FD7D6F42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9FBE"/>
                </a:solidFill>
              </a:defRPr>
            </a:pPr>
            <a:r>
              <a:rPr sz="1050" b="1">
                <a:solidFill>
                  <a:srgbClr val="5D9FBE"/>
                </a:solidFill>
              </a:rPr>
              <a:t>SERVICE RESULT PREVIEW</a:t>
            </a:r>
          </a:p>
        </p:txBody>
      </p:sp>
      <p:sp>
        <p:nvSpPr>
          <p:cNvPr id="36" name="screen-preview">
            <a:extLst xmlns:a="http://schemas.openxmlformats.org/drawingml/2006/main">
              <a:ext uri="{FF2B5EF4-FFF2-40B4-BE49-F238E27FC236}">
                <a16:creationId xmlns:a16="http://schemas.microsoft.com/office/drawing/2014/main" id="{22B6DC23-ABFF-4DBC-AAD9-0F8A633E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49053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1E8"/>
          </a:solidFill>
          <a:ln xmlns:a="http://schemas.openxmlformats.org/drawingml/2006/main" w="9525">
            <a:solidFill>
              <a:srgbClr val="C2D2C4"/>
            </a:solidFill>
            <a:prstDash val="solid"/>
          </a:ln>
        </p:spPr>
      </p:sp>
      <p:sp>
        <p:nvSpPr>
          <p:cNvPr id="37" name="preview-side">
            <a:extLst xmlns:a="http://schemas.openxmlformats.org/drawingml/2006/main">
              <a:ext uri="{FF2B5EF4-FFF2-40B4-BE49-F238E27FC236}">
                <a16:creationId xmlns:a16="http://schemas.microsoft.com/office/drawing/2014/main" id="{C39102EC-B780-4E1E-A436-D98ED744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8096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A9BC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review-message">
            <a:extLst xmlns:a="http://schemas.openxmlformats.org/drawingml/2006/main">
              <a:ext uri="{FF2B5EF4-FFF2-40B4-BE49-F238E27FC236}">
                <a16:creationId xmlns:a16="http://schemas.microsoft.com/office/drawing/2014/main" id="{AFD832A2-EEF2-4201-AFCF-E66BB139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0275"/>
            <a:ext cx="2514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review-response">
            <a:extLst xmlns:a="http://schemas.openxmlformats.org/drawingml/2006/main">
              <a:ext uri="{FF2B5EF4-FFF2-40B4-BE49-F238E27FC236}">
                <a16:creationId xmlns:a16="http://schemas.microsoft.com/office/drawing/2014/main" id="{7DF24187-70EC-47B4-BFFE-4D9EDF8A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229350"/>
            <a:ext cx="2000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9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4338CC-6F5F-47EC-8016-C01804A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94737"/>
                </a:solidFill>
              </a:defRPr>
            </a:pPr>
            <a:r>
              <a:rPr sz="1725" b="1">
                <a:solidFill>
                  <a:srgbClr val="294737"/>
                </a:solidFill>
              </a:rPr>
              <a:t>편안함과 기술 신뢰의 균형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33A97E-7ACA-41D3-BB57-E66C9BA4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00775"/>
            <a:ext cx="471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62"/>
                </a:solidFill>
              </a:defRPr>
            </a:pPr>
            <a:r>
              <a:rPr sz="1125">
                <a:solidFill>
                  <a:srgbClr val="5E6B62"/>
                </a:solidFill>
              </a:rPr>
              <a:t>상담 서비스의 자연스러운 정체성을 유지하는 기본안</a:t>
            </a:r>
          </a:p>
        </p:txBody>
      </p:sp>
    </p:spTree>
    <p:extLst>
      <p:ext uri="{BB962C8B-B14F-4D97-AF65-F5344CB8AC3E}">
        <p14:creationId xmlns:p14="http://schemas.microsoft.com/office/powerpoint/2010/main" val="1287888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-zone">
            <a:extLst xmlns:a="http://schemas.openxmlformats.org/drawingml/2006/main">
              <a:ext uri="{FF2B5EF4-FFF2-40B4-BE49-F238E27FC236}">
                <a16:creationId xmlns:a16="http://schemas.microsoft.com/office/drawing/2014/main" id="{87F349F9-B395-4B7A-9499-251C12D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chnology-zone">
            <a:extLst xmlns:a="http://schemas.openxmlformats.org/drawingml/2006/main">
              <a:ext uri="{FF2B5EF4-FFF2-40B4-BE49-F238E27FC236}">
                <a16:creationId xmlns:a16="http://schemas.microsoft.com/office/drawing/2014/main" id="{D72D5C95-C07A-408D-BE14-00B2697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sult-zone">
            <a:extLst xmlns:a="http://schemas.openxmlformats.org/drawingml/2006/main">
              <a:ext uri="{FF2B5EF4-FFF2-40B4-BE49-F238E27FC236}">
                <a16:creationId xmlns:a16="http://schemas.microsoft.com/office/drawing/2014/main" id="{E8F850A3-73CA-4D4A-A83F-BBB300D1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00650"/>
            <a:ext cx="12192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D08F0-3CB4-42F4-A722-23C459F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9BC7"/>
                </a:solidFill>
              </a:defRPr>
            </a:pPr>
            <a:r>
              <a:rPr sz="1050" b="1">
                <a:solidFill>
                  <a:srgbClr val="4D9BC7"/>
                </a:solidFill>
              </a:rPr>
              <a:t>COLOR DRAFT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157F3-8965-4BD2-BE8D-48209FBA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723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3B4A"/>
                </a:solidFill>
              </a:defRPr>
            </a:pPr>
            <a:r>
              <a:rPr sz="2850" b="1">
                <a:solidFill>
                  <a:srgbClr val="243B4A"/>
                </a:solidFill>
              </a:rPr>
              <a:t>Clinical Tech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5DF56-D8A7-4C71-BC11-59630AE0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805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E79"/>
                </a:solidFill>
              </a:defRPr>
            </a:pPr>
            <a:r>
              <a:rPr sz="1200">
                <a:solidFill>
                  <a:srgbClr val="5C6E79"/>
                </a:solidFill>
              </a:rPr>
              <a:t>AI·음성·상담 기술의 정확성과 신뢰를 선명하게 전달하는 연구 발표형</a:t>
            </a:r>
          </a:p>
        </p:txBody>
      </p:sp>
      <p:sp>
        <p:nvSpPr>
          <p:cNvPr id="7" name="card-LLM">
            <a:extLst xmlns:a="http://schemas.openxmlformats.org/drawingml/2006/main">
              <a:ext uri="{FF2B5EF4-FFF2-40B4-BE49-F238E27FC236}">
                <a16:creationId xmlns:a16="http://schemas.microsoft.com/office/drawing/2014/main" id="{21A6A1E3-88B7-48FB-BE25-24AB036B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tab-LLM">
            <a:extLst xmlns:a="http://schemas.openxmlformats.org/drawingml/2006/main">
              <a:ext uri="{FF2B5EF4-FFF2-40B4-BE49-F238E27FC236}">
                <a16:creationId xmlns:a16="http://schemas.microsoft.com/office/drawing/2014/main" id="{85CD635E-112C-46E5-80EA-1310922A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DA401-0047-4599-99D9-24E93AE4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47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9BC7"/>
                </a:solidFill>
              </a:defRPr>
            </a:pPr>
            <a:r>
              <a:rPr sz="1275" b="1">
                <a:solidFill>
                  <a:srgbClr val="4D9BC7"/>
                </a:solidFill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6A38A-2774-49AF-A950-066A2D4A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4A"/>
                </a:solidFill>
              </a:defRPr>
            </a:pPr>
            <a:r>
              <a:rPr sz="1350" b="1">
                <a:solidFill>
                  <a:srgbClr val="243B4A"/>
                </a:solidFill>
              </a:rPr>
              <a:t>공감 선출력 · 구조화 판단</a:t>
            </a:r>
          </a:p>
        </p:txBody>
      </p:sp>
      <p:sp>
        <p:nvSpPr>
          <p:cNvPr id="11" name="signal-a-LLM">
            <a:extLst xmlns:a="http://schemas.openxmlformats.org/drawingml/2006/main">
              <a:ext uri="{FF2B5EF4-FFF2-40B4-BE49-F238E27FC236}">
                <a16:creationId xmlns:a16="http://schemas.microsoft.com/office/drawing/2014/main" id="{8EADA18B-8494-4478-BAAB-A4D62513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ignal-b-LLM">
            <a:extLst xmlns:a="http://schemas.openxmlformats.org/drawingml/2006/main">
              <a:ext uri="{FF2B5EF4-FFF2-40B4-BE49-F238E27FC236}">
                <a16:creationId xmlns:a16="http://schemas.microsoft.com/office/drawing/2014/main" id="{3D02FDB4-40DE-4041-A569-6F51CF57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24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ignal-c-LLM">
            <a:extLst xmlns:a="http://schemas.openxmlformats.org/drawingml/2006/main">
              <a:ext uri="{FF2B5EF4-FFF2-40B4-BE49-F238E27FC236}">
                <a16:creationId xmlns:a16="http://schemas.microsoft.com/office/drawing/2014/main" id="{739AFE8F-8647-49D2-8288-2FFC9608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24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TS">
            <a:extLst xmlns:a="http://schemas.openxmlformats.org/drawingml/2006/main">
              <a:ext uri="{FF2B5EF4-FFF2-40B4-BE49-F238E27FC236}">
                <a16:creationId xmlns:a16="http://schemas.microsoft.com/office/drawing/2014/main" id="{84DC9359-6FAF-430A-89D6-AAA2E5F8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tab-TTS">
            <a:extLst xmlns:a="http://schemas.openxmlformats.org/drawingml/2006/main">
              <a:ext uri="{FF2B5EF4-FFF2-40B4-BE49-F238E27FC236}">
                <a16:creationId xmlns:a16="http://schemas.microsoft.com/office/drawing/2014/main" id="{BC694754-CEFD-4FE5-B554-D955C404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71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6839F-700D-4D83-AD7C-37583582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9BC7"/>
                </a:solidFill>
              </a:defRPr>
            </a:pPr>
            <a:r>
              <a:rPr sz="1275" b="1">
                <a:solidFill>
                  <a:srgbClr val="4D9BC7"/>
                </a:solidFill>
              </a:rPr>
              <a:t>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A0362-190C-4A44-87BE-3D8D4703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24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4A"/>
                </a:solidFill>
              </a:defRPr>
            </a:pPr>
            <a:r>
              <a:rPr sz="1350" b="1">
                <a:solidFill>
                  <a:srgbClr val="243B4A"/>
                </a:solidFill>
              </a:rPr>
              <a:t>GPT-SoVITS · 연속 음성 재생</a:t>
            </a:r>
          </a:p>
        </p:txBody>
      </p:sp>
      <p:sp>
        <p:nvSpPr>
          <p:cNvPr id="18" name="signal-a-TTS">
            <a:extLst xmlns:a="http://schemas.openxmlformats.org/drawingml/2006/main">
              <a:ext uri="{FF2B5EF4-FFF2-40B4-BE49-F238E27FC236}">
                <a16:creationId xmlns:a16="http://schemas.microsoft.com/office/drawing/2014/main" id="{50F5FAB1-426D-416E-A407-E057432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24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ignal-b-TTS">
            <a:extLst xmlns:a="http://schemas.openxmlformats.org/drawingml/2006/main">
              <a:ext uri="{FF2B5EF4-FFF2-40B4-BE49-F238E27FC236}">
                <a16:creationId xmlns:a16="http://schemas.microsoft.com/office/drawing/2014/main" id="{D3861E37-6720-4D78-BFA5-88CE511B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24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ignal-c-TTS">
            <a:extLst xmlns:a="http://schemas.openxmlformats.org/drawingml/2006/main">
              <a:ext uri="{FF2B5EF4-FFF2-40B4-BE49-F238E27FC236}">
                <a16:creationId xmlns:a16="http://schemas.microsoft.com/office/drawing/2014/main" id="{AADE74AB-7B6E-4B23-B2F5-5DC26373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24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STT + VAD">
            <a:extLst xmlns:a="http://schemas.openxmlformats.org/drawingml/2006/main">
              <a:ext uri="{FF2B5EF4-FFF2-40B4-BE49-F238E27FC236}">
                <a16:creationId xmlns:a16="http://schemas.microsoft.com/office/drawing/2014/main" id="{F9F68B39-0A64-4D40-8595-4E2A731C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2" name="tab-STT + VAD">
            <a:extLst xmlns:a="http://schemas.openxmlformats.org/drawingml/2006/main">
              <a:ext uri="{FF2B5EF4-FFF2-40B4-BE49-F238E27FC236}">
                <a16:creationId xmlns:a16="http://schemas.microsoft.com/office/drawing/2014/main" id="{BED4AB9B-D62B-4B9F-B01C-C438A245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1E34F-9C09-4F3E-8ABB-8779ED6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71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9BC7"/>
                </a:solidFill>
              </a:defRPr>
            </a:pPr>
            <a:r>
              <a:rPr sz="1275" b="1">
                <a:solidFill>
                  <a:srgbClr val="4D9BC7"/>
                </a:solidFill>
              </a:rPr>
              <a:t>STT + VAD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4531C-DFFA-42E6-BE43-76987C9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4A"/>
                </a:solidFill>
              </a:defRPr>
            </a:pPr>
            <a:r>
              <a:rPr sz="1350" b="1">
                <a:solidFill>
                  <a:srgbClr val="243B4A"/>
                </a:solidFill>
              </a:rPr>
              <a:t>자동 발화 종료 · 턴테이킹</a:t>
            </a:r>
          </a:p>
        </p:txBody>
      </p:sp>
      <p:sp>
        <p:nvSpPr>
          <p:cNvPr id="25" name="signal-a-STT + VAD">
            <a:extLst xmlns:a="http://schemas.openxmlformats.org/drawingml/2006/main">
              <a:ext uri="{FF2B5EF4-FFF2-40B4-BE49-F238E27FC236}">
                <a16:creationId xmlns:a16="http://schemas.microsoft.com/office/drawing/2014/main" id="{597DC8F3-8FA3-4935-AB7B-033C0D3F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48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ignal-b-STT + VAD">
            <a:extLst xmlns:a="http://schemas.openxmlformats.org/drawingml/2006/main">
              <a:ext uri="{FF2B5EF4-FFF2-40B4-BE49-F238E27FC236}">
                <a16:creationId xmlns:a16="http://schemas.microsoft.com/office/drawing/2014/main" id="{F232144E-6E99-4CEA-BF57-898E751F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448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ignal-c-STT + VAD">
            <a:extLst xmlns:a="http://schemas.openxmlformats.org/drawingml/2006/main">
              <a:ext uri="{FF2B5EF4-FFF2-40B4-BE49-F238E27FC236}">
                <a16:creationId xmlns:a16="http://schemas.microsoft.com/office/drawing/2014/main" id="{F34776F2-D58F-4865-8394-77D9B728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48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SERVICE FLOW">
            <a:extLst xmlns:a="http://schemas.openxmlformats.org/drawingml/2006/main">
              <a:ext uri="{FF2B5EF4-FFF2-40B4-BE49-F238E27FC236}">
                <a16:creationId xmlns:a16="http://schemas.microsoft.com/office/drawing/2014/main" id="{62B66329-6450-4747-9A14-23CCE91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9" name="tab-SERVICE FLOW">
            <a:extLst xmlns:a="http://schemas.openxmlformats.org/drawingml/2006/main">
              <a:ext uri="{FF2B5EF4-FFF2-40B4-BE49-F238E27FC236}">
                <a16:creationId xmlns:a16="http://schemas.microsoft.com/office/drawing/2014/main" id="{7ECD83AE-BBC9-41BD-8F93-2107630E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95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381F2-1E2A-4E9D-9A83-F2EAADC9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9BC7"/>
                </a:solidFill>
              </a:defRPr>
            </a:pPr>
            <a:r>
              <a:rPr sz="1275" b="1">
                <a:solidFill>
                  <a:srgbClr val="4D9BC7"/>
                </a:solidFill>
              </a:rPr>
              <a:t>SERVICE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CBB734-ADEE-4202-9F1E-6646365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48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4A"/>
                </a:solidFill>
              </a:defRPr>
            </a:pPr>
            <a:r>
              <a:rPr sz="1350" b="1">
                <a:solidFill>
                  <a:srgbClr val="243B4A"/>
                </a:solidFill>
              </a:rPr>
              <a:t>편안한 자기 탐색 경험</a:t>
            </a:r>
          </a:p>
        </p:txBody>
      </p:sp>
      <p:sp>
        <p:nvSpPr>
          <p:cNvPr id="32" name="signal-a-SERVICE FLOW">
            <a:extLst xmlns:a="http://schemas.openxmlformats.org/drawingml/2006/main">
              <a:ext uri="{FF2B5EF4-FFF2-40B4-BE49-F238E27FC236}">
                <a16:creationId xmlns:a16="http://schemas.microsoft.com/office/drawing/2014/main" id="{5534C61D-163F-4CF1-8144-084F6F60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48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ignal-b-SERVICE FLOW">
            <a:extLst xmlns:a="http://schemas.openxmlformats.org/drawingml/2006/main">
              <a:ext uri="{FF2B5EF4-FFF2-40B4-BE49-F238E27FC236}">
                <a16:creationId xmlns:a16="http://schemas.microsoft.com/office/drawing/2014/main" id="{26B40373-500A-4B4E-B7CA-CF544698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48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ignal-c-SERVICE FLOW">
            <a:extLst xmlns:a="http://schemas.openxmlformats.org/drawingml/2006/main">
              <a:ext uri="{FF2B5EF4-FFF2-40B4-BE49-F238E27FC236}">
                <a16:creationId xmlns:a16="http://schemas.microsoft.com/office/drawing/2014/main" id="{77FF95F8-0C38-4DB2-9551-1D573852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48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54B4C2-E681-4ACF-8412-4B008886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9BC7"/>
                </a:solidFill>
              </a:defRPr>
            </a:pPr>
            <a:r>
              <a:rPr sz="1050" b="1">
                <a:solidFill>
                  <a:srgbClr val="4D9BC7"/>
                </a:solidFill>
              </a:rPr>
              <a:t>SERVICE RESULT PREVIEW</a:t>
            </a:r>
          </a:p>
        </p:txBody>
      </p:sp>
      <p:sp>
        <p:nvSpPr>
          <p:cNvPr id="36" name="screen-preview">
            <a:extLst xmlns:a="http://schemas.openxmlformats.org/drawingml/2006/main">
              <a:ext uri="{FF2B5EF4-FFF2-40B4-BE49-F238E27FC236}">
                <a16:creationId xmlns:a16="http://schemas.microsoft.com/office/drawing/2014/main" id="{4A2C91C1-12B0-44D6-A0B3-B33439BE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49053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37" name="preview-side">
            <a:extLst xmlns:a="http://schemas.openxmlformats.org/drawingml/2006/main">
              <a:ext uri="{FF2B5EF4-FFF2-40B4-BE49-F238E27FC236}">
                <a16:creationId xmlns:a16="http://schemas.microsoft.com/office/drawing/2014/main" id="{18AEF991-66D9-4781-990A-5B78C31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8096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F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review-message">
            <a:extLst xmlns:a="http://schemas.openxmlformats.org/drawingml/2006/main">
              <a:ext uri="{FF2B5EF4-FFF2-40B4-BE49-F238E27FC236}">
                <a16:creationId xmlns:a16="http://schemas.microsoft.com/office/drawing/2014/main" id="{08C6D107-EADA-4606-B850-79258DC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0275"/>
            <a:ext cx="2514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review-response">
            <a:extLst xmlns:a="http://schemas.openxmlformats.org/drawingml/2006/main">
              <a:ext uri="{FF2B5EF4-FFF2-40B4-BE49-F238E27FC236}">
                <a16:creationId xmlns:a16="http://schemas.microsoft.com/office/drawing/2014/main" id="{91804505-1E23-40C4-84F4-A9339E4E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229350"/>
            <a:ext cx="2000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92A3C1-EC85-4725-BDFC-F2201E6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4A"/>
                </a:solidFill>
              </a:defRPr>
            </a:pPr>
            <a:r>
              <a:rPr sz="1725" b="1">
                <a:solidFill>
                  <a:srgbClr val="243B4A"/>
                </a:solidFill>
              </a:rPr>
              <a:t>가장 강한 기술 전문성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5EB668-1A95-4BCB-B8BA-E1F7DB1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00775"/>
            <a:ext cx="471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E79"/>
                </a:solidFill>
              </a:defRPr>
            </a:pPr>
            <a:r>
              <a:rPr sz="1125">
                <a:solidFill>
                  <a:srgbClr val="5C6E79"/>
                </a:solidFill>
              </a:rPr>
              <a:t>공모전·연구 발표에서 AI 파이프라인을 전면에 둘 때 적합</a:t>
            </a:r>
          </a:p>
        </p:txBody>
      </p:sp>
    </p:spTree>
    <p:extLst>
      <p:ext uri="{BB962C8B-B14F-4D97-AF65-F5344CB8AC3E}">
        <p14:creationId xmlns:p14="http://schemas.microsoft.com/office/powerpoint/2010/main" val="1904325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-zone">
            <a:extLst xmlns:a="http://schemas.openxmlformats.org/drawingml/2006/main">
              <a:ext uri="{FF2B5EF4-FFF2-40B4-BE49-F238E27FC236}">
                <a16:creationId xmlns:a16="http://schemas.microsoft.com/office/drawing/2014/main" id="{973A7E66-A1CE-4FCA-8DBD-EC721362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chnology-zone">
            <a:extLst xmlns:a="http://schemas.openxmlformats.org/drawingml/2006/main">
              <a:ext uri="{FF2B5EF4-FFF2-40B4-BE49-F238E27FC236}">
                <a16:creationId xmlns:a16="http://schemas.microsoft.com/office/drawing/2014/main" id="{1C8748E3-5F5C-4223-A87C-2AC6AFFA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sult-zone">
            <a:extLst xmlns:a="http://schemas.openxmlformats.org/drawingml/2006/main">
              <a:ext uri="{FF2B5EF4-FFF2-40B4-BE49-F238E27FC236}">
                <a16:creationId xmlns:a16="http://schemas.microsoft.com/office/drawing/2014/main" id="{7BF7712D-D741-466E-9D28-D64B54CA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00650"/>
            <a:ext cx="12192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3AF0-BCA4-4E76-A019-57BB9945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9A89"/>
                </a:solidFill>
              </a:defRPr>
            </a:pPr>
            <a:r>
              <a:rPr sz="1050" b="1">
                <a:solidFill>
                  <a:srgbClr val="6F9A89"/>
                </a:solidFill>
              </a:rPr>
              <a:t>COLOR DRAFT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03695-05AA-4F5C-9632-54D7853A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723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4F43"/>
                </a:solidFill>
              </a:defRPr>
            </a:pPr>
            <a:r>
              <a:rPr sz="2850" b="1">
                <a:solidFill>
                  <a:srgbClr val="3D4F43"/>
                </a:solidFill>
              </a:rPr>
              <a:t>Warm Care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77CD1-B4B2-4263-AAB1-03E95CE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805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B64"/>
                </a:solidFill>
              </a:defRPr>
            </a:pPr>
            <a:r>
              <a:rPr sz="1200">
                <a:solidFill>
                  <a:srgbClr val="6C6B64"/>
                </a:solidFill>
              </a:rPr>
              <a:t>정서적 안전감과 상담 경험을 강조하는, 다정하지만 절제된 서비스형</a:t>
            </a:r>
          </a:p>
        </p:txBody>
      </p:sp>
      <p:sp>
        <p:nvSpPr>
          <p:cNvPr id="7" name="card-LLM">
            <a:extLst xmlns:a="http://schemas.openxmlformats.org/drawingml/2006/main">
              <a:ext uri="{FF2B5EF4-FFF2-40B4-BE49-F238E27FC236}">
                <a16:creationId xmlns:a16="http://schemas.microsoft.com/office/drawing/2014/main" id="{B03E52DF-DD8F-46FC-B310-9CF7C0A1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8" name="tab-LLM">
            <a:extLst xmlns:a="http://schemas.openxmlformats.org/drawingml/2006/main">
              <a:ext uri="{FF2B5EF4-FFF2-40B4-BE49-F238E27FC236}">
                <a16:creationId xmlns:a16="http://schemas.microsoft.com/office/drawing/2014/main" id="{714BD6E2-5F12-40E3-A95F-640B0ECB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481A-31B1-4E70-B4D8-C2FB969E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47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9A89"/>
                </a:solidFill>
              </a:defRPr>
            </a:pPr>
            <a:r>
              <a:rPr sz="1275" b="1">
                <a:solidFill>
                  <a:srgbClr val="6F9A89"/>
                </a:solidFill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552F7-4F59-41E9-B73F-19F33DE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4F43"/>
                </a:solidFill>
              </a:defRPr>
            </a:pPr>
            <a:r>
              <a:rPr sz="1350" b="1">
                <a:solidFill>
                  <a:srgbClr val="3D4F43"/>
                </a:solidFill>
              </a:rPr>
              <a:t>공감 선출력 · 구조화 판단</a:t>
            </a:r>
          </a:p>
        </p:txBody>
      </p:sp>
      <p:sp>
        <p:nvSpPr>
          <p:cNvPr id="11" name="signal-a-LLM">
            <a:extLst xmlns:a="http://schemas.openxmlformats.org/drawingml/2006/main">
              <a:ext uri="{FF2B5EF4-FFF2-40B4-BE49-F238E27FC236}">
                <a16:creationId xmlns:a16="http://schemas.microsoft.com/office/drawing/2014/main" id="{995A0C18-95FC-4089-B9B4-349D3EA7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ignal-b-LLM">
            <a:extLst xmlns:a="http://schemas.openxmlformats.org/drawingml/2006/main">
              <a:ext uri="{FF2B5EF4-FFF2-40B4-BE49-F238E27FC236}">
                <a16:creationId xmlns:a16="http://schemas.microsoft.com/office/drawing/2014/main" id="{99F6EA5B-0ED8-4317-8A4C-14D655D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24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ignal-c-LLM">
            <a:extLst xmlns:a="http://schemas.openxmlformats.org/drawingml/2006/main">
              <a:ext uri="{FF2B5EF4-FFF2-40B4-BE49-F238E27FC236}">
                <a16:creationId xmlns:a16="http://schemas.microsoft.com/office/drawing/2014/main" id="{BD8C164E-25D1-4766-9FB1-0F2260F9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24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A9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TS">
            <a:extLst xmlns:a="http://schemas.openxmlformats.org/drawingml/2006/main">
              <a:ext uri="{FF2B5EF4-FFF2-40B4-BE49-F238E27FC236}">
                <a16:creationId xmlns:a16="http://schemas.microsoft.com/office/drawing/2014/main" id="{3994B07A-A4C7-4110-A1F6-0EC0D53C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5" name="tab-TTS">
            <a:extLst xmlns:a="http://schemas.openxmlformats.org/drawingml/2006/main">
              <a:ext uri="{FF2B5EF4-FFF2-40B4-BE49-F238E27FC236}">
                <a16:creationId xmlns:a16="http://schemas.microsoft.com/office/drawing/2014/main" id="{BA35F340-C692-4882-AEFD-CD503A80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71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7CF7D-4CF1-4830-892D-3E651BCB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9A89"/>
                </a:solidFill>
              </a:defRPr>
            </a:pPr>
            <a:r>
              <a:rPr sz="1275" b="1">
                <a:solidFill>
                  <a:srgbClr val="6F9A89"/>
                </a:solidFill>
              </a:rPr>
              <a:t>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AE338-B686-4FA1-B8B5-89DC2449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24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4F43"/>
                </a:solidFill>
              </a:defRPr>
            </a:pPr>
            <a:r>
              <a:rPr sz="1350" b="1">
                <a:solidFill>
                  <a:srgbClr val="3D4F43"/>
                </a:solidFill>
              </a:rPr>
              <a:t>GPT-SoVITS · 연속 음성 재생</a:t>
            </a:r>
          </a:p>
        </p:txBody>
      </p:sp>
      <p:sp>
        <p:nvSpPr>
          <p:cNvPr id="18" name="signal-a-TTS">
            <a:extLst xmlns:a="http://schemas.openxmlformats.org/drawingml/2006/main">
              <a:ext uri="{FF2B5EF4-FFF2-40B4-BE49-F238E27FC236}">
                <a16:creationId xmlns:a16="http://schemas.microsoft.com/office/drawing/2014/main" id="{B555C3C5-3D84-466A-B7A3-3D6905E9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24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ignal-b-TTS">
            <a:extLst xmlns:a="http://schemas.openxmlformats.org/drawingml/2006/main">
              <a:ext uri="{FF2B5EF4-FFF2-40B4-BE49-F238E27FC236}">
                <a16:creationId xmlns:a16="http://schemas.microsoft.com/office/drawing/2014/main" id="{BF4ABA14-0026-4539-AFCB-BD1A28C2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24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ignal-c-TTS">
            <a:extLst xmlns:a="http://schemas.openxmlformats.org/drawingml/2006/main">
              <a:ext uri="{FF2B5EF4-FFF2-40B4-BE49-F238E27FC236}">
                <a16:creationId xmlns:a16="http://schemas.microsoft.com/office/drawing/2014/main" id="{16D55A27-DA56-430F-9190-34302471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24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A9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STT + VAD">
            <a:extLst xmlns:a="http://schemas.openxmlformats.org/drawingml/2006/main">
              <a:ext uri="{FF2B5EF4-FFF2-40B4-BE49-F238E27FC236}">
                <a16:creationId xmlns:a16="http://schemas.microsoft.com/office/drawing/2014/main" id="{08CC5A51-C971-4A07-BB55-BF61550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22" name="tab-STT + VAD">
            <a:extLst xmlns:a="http://schemas.openxmlformats.org/drawingml/2006/main">
              <a:ext uri="{FF2B5EF4-FFF2-40B4-BE49-F238E27FC236}">
                <a16:creationId xmlns:a16="http://schemas.microsoft.com/office/drawing/2014/main" id="{975FE1F6-521B-4715-B335-3DA2F655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F61E6-E768-4F75-ABAA-EEE1E37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71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9A89"/>
                </a:solidFill>
              </a:defRPr>
            </a:pPr>
            <a:r>
              <a:rPr sz="1275" b="1">
                <a:solidFill>
                  <a:srgbClr val="6F9A89"/>
                </a:solidFill>
              </a:rPr>
              <a:t>STT + VAD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3982B-6AFD-45D2-8BEE-8C7905E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4F43"/>
                </a:solidFill>
              </a:defRPr>
            </a:pPr>
            <a:r>
              <a:rPr sz="1350" b="1">
                <a:solidFill>
                  <a:srgbClr val="3D4F43"/>
                </a:solidFill>
              </a:rPr>
              <a:t>자동 발화 종료 · 턴테이킹</a:t>
            </a:r>
          </a:p>
        </p:txBody>
      </p:sp>
      <p:sp>
        <p:nvSpPr>
          <p:cNvPr id="25" name="signal-a-STT + VAD">
            <a:extLst xmlns:a="http://schemas.openxmlformats.org/drawingml/2006/main">
              <a:ext uri="{FF2B5EF4-FFF2-40B4-BE49-F238E27FC236}">
                <a16:creationId xmlns:a16="http://schemas.microsoft.com/office/drawing/2014/main" id="{CE191EBF-283C-49CA-9D61-D6EBF474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48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ignal-b-STT + VAD">
            <a:extLst xmlns:a="http://schemas.openxmlformats.org/drawingml/2006/main">
              <a:ext uri="{FF2B5EF4-FFF2-40B4-BE49-F238E27FC236}">
                <a16:creationId xmlns:a16="http://schemas.microsoft.com/office/drawing/2014/main" id="{71ABB086-1E2A-4B8E-A682-62531C1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448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ignal-c-STT + VAD">
            <a:extLst xmlns:a="http://schemas.openxmlformats.org/drawingml/2006/main">
              <a:ext uri="{FF2B5EF4-FFF2-40B4-BE49-F238E27FC236}">
                <a16:creationId xmlns:a16="http://schemas.microsoft.com/office/drawing/2014/main" id="{061E43CC-BFCE-4F53-B25B-9B805844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48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A9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SERVICE FLOW">
            <a:extLst xmlns:a="http://schemas.openxmlformats.org/drawingml/2006/main">
              <a:ext uri="{FF2B5EF4-FFF2-40B4-BE49-F238E27FC236}">
                <a16:creationId xmlns:a16="http://schemas.microsoft.com/office/drawing/2014/main" id="{F06431A2-1CEB-4F80-BF0D-97D4FD59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1149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29" name="tab-SERVICE FLOW">
            <a:extLst xmlns:a="http://schemas.openxmlformats.org/drawingml/2006/main">
              <a:ext uri="{FF2B5EF4-FFF2-40B4-BE49-F238E27FC236}">
                <a16:creationId xmlns:a16="http://schemas.microsoft.com/office/drawing/2014/main" id="{31F1A9EB-8DDD-4532-8379-DCE0FEC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956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299444-C37E-4AB1-A05A-8A59F575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9A89"/>
                </a:solidFill>
              </a:defRPr>
            </a:pPr>
            <a:r>
              <a:rPr sz="1275" b="1">
                <a:solidFill>
                  <a:srgbClr val="6F9A89"/>
                </a:solidFill>
              </a:rPr>
              <a:t>SERVICE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9FF0C-DB4E-4BE2-A8B1-71CEF19A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481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4F43"/>
                </a:solidFill>
              </a:defRPr>
            </a:pPr>
            <a:r>
              <a:rPr sz="1350" b="1">
                <a:solidFill>
                  <a:srgbClr val="3D4F43"/>
                </a:solidFill>
              </a:rPr>
              <a:t>편안한 자기 탐색 경험</a:t>
            </a:r>
          </a:p>
        </p:txBody>
      </p:sp>
      <p:sp>
        <p:nvSpPr>
          <p:cNvPr id="32" name="signal-a-SERVICE FLOW">
            <a:extLst xmlns:a="http://schemas.openxmlformats.org/drawingml/2006/main">
              <a:ext uri="{FF2B5EF4-FFF2-40B4-BE49-F238E27FC236}">
                <a16:creationId xmlns:a16="http://schemas.microsoft.com/office/drawing/2014/main" id="{0A44249E-C889-4336-BC83-FC23586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48175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ignal-b-SERVICE FLOW">
            <a:extLst xmlns:a="http://schemas.openxmlformats.org/drawingml/2006/main">
              <a:ext uri="{FF2B5EF4-FFF2-40B4-BE49-F238E27FC236}">
                <a16:creationId xmlns:a16="http://schemas.microsoft.com/office/drawing/2014/main" id="{F7F08C3A-29BA-4156-A4D1-F368EC69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48175"/>
            <a:ext cx="1695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ignal-c-SERVICE FLOW">
            <a:extLst xmlns:a="http://schemas.openxmlformats.org/drawingml/2006/main">
              <a:ext uri="{FF2B5EF4-FFF2-40B4-BE49-F238E27FC236}">
                <a16:creationId xmlns:a16="http://schemas.microsoft.com/office/drawing/2014/main" id="{9385DF6C-02AF-4492-A9BF-4ED91911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48175"/>
            <a:ext cx="704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A9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6DAE9-FB34-4102-A04E-A8C5AB88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9A89"/>
                </a:solidFill>
              </a:defRPr>
            </a:pPr>
            <a:r>
              <a:rPr sz="1050" b="1">
                <a:solidFill>
                  <a:srgbClr val="6F9A89"/>
                </a:solidFill>
              </a:rPr>
              <a:t>SERVICE RESULT PREVIEW</a:t>
            </a:r>
          </a:p>
        </p:txBody>
      </p:sp>
      <p:sp>
        <p:nvSpPr>
          <p:cNvPr id="36" name="screen-preview">
            <a:extLst xmlns:a="http://schemas.openxmlformats.org/drawingml/2006/main">
              <a:ext uri="{FF2B5EF4-FFF2-40B4-BE49-F238E27FC236}">
                <a16:creationId xmlns:a16="http://schemas.microsoft.com/office/drawing/2014/main" id="{E5C538A8-7B51-4015-B776-9F3D425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49053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AEFEC"/>
          </a:solidFill>
          <a:ln xmlns:a="http://schemas.openxmlformats.org/drawingml/2006/main" w="9525">
            <a:solidFill>
              <a:srgbClr val="E5C8C1"/>
            </a:solidFill>
            <a:prstDash val="solid"/>
          </a:ln>
        </p:spPr>
      </p:sp>
      <p:sp>
        <p:nvSpPr>
          <p:cNvPr id="37" name="preview-side">
            <a:extLst xmlns:a="http://schemas.openxmlformats.org/drawingml/2006/main">
              <a:ext uri="{FF2B5EF4-FFF2-40B4-BE49-F238E27FC236}">
                <a16:creationId xmlns:a16="http://schemas.microsoft.com/office/drawing/2014/main" id="{34EE7155-AFD8-446B-9B62-311B2F0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8096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A9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review-message">
            <a:extLst xmlns:a="http://schemas.openxmlformats.org/drawingml/2006/main">
              <a:ext uri="{FF2B5EF4-FFF2-40B4-BE49-F238E27FC236}">
                <a16:creationId xmlns:a16="http://schemas.microsoft.com/office/drawing/2014/main" id="{2D2DB635-33D6-46A7-95FD-4F4BD803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0275"/>
            <a:ext cx="2514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review-response">
            <a:extLst xmlns:a="http://schemas.openxmlformats.org/drawingml/2006/main">
              <a:ext uri="{FF2B5EF4-FFF2-40B4-BE49-F238E27FC236}">
                <a16:creationId xmlns:a16="http://schemas.microsoft.com/office/drawing/2014/main" id="{940931A7-BCF3-4EDA-8643-A411A14C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229350"/>
            <a:ext cx="2000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9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BAF4BF-9BD6-4AD3-B687-769F1FD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4F43"/>
                </a:solidFill>
              </a:defRPr>
            </a:pPr>
            <a:r>
              <a:rPr sz="1725" b="1">
                <a:solidFill>
                  <a:srgbClr val="3D4F43"/>
                </a:solidFill>
              </a:rPr>
              <a:t>가장 따뜻한 서비스 인상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2D2564-E613-4FBF-9F07-383D6CBA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00775"/>
            <a:ext cx="471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C6B64"/>
                </a:solidFill>
              </a:defRPr>
            </a:pPr>
            <a:r>
              <a:rPr sz="1125">
                <a:solidFill>
                  <a:srgbClr val="6C6B64"/>
                </a:solidFill>
              </a:rPr>
              <a:t>음성 상담의 안정감과 사용자 경험을 중심에 둘 때 적합</a:t>
            </a:r>
          </a:p>
        </p:txBody>
      </p:sp>
    </p:spTree>
    <p:extLst>
      <p:ext uri="{BB962C8B-B14F-4D97-AF65-F5344CB8AC3E}">
        <p14:creationId xmlns:p14="http://schemas.microsoft.com/office/powerpoint/2010/main" val="1061750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2026-08-02T06:49:44.5440000Z</dcterms:created>
  <dcterms:modified xsi:type="dcterms:W3CDTF">2026-08-02T06:49:44.5440000Z</dcterms:modified>
</coreProperties>
</file>