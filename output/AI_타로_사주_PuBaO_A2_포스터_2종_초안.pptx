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c04467e276463d" /><Relationship Type="http://schemas.openxmlformats.org/officeDocument/2006/relationships/extended-properties" Target="/docProps/app.xml" Id="R75eb5cce6fc94c91" /><Relationship Type="http://schemas.openxmlformats.org/officeDocument/2006/relationships/officeDocument" Target="/ppt/presentation.xml" Id="R02c46f38f594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c2bd68f51c44f0"/>
  </p:sldMasterIdLst>
  <p:notesMasterIdLst>
    <p:notesMasterId xmlns:r="http://schemas.openxmlformats.org/officeDocument/2006/relationships" r:id="Red7c52d7ae3d4445"/>
  </p:notesMasterIdLst>
  <p:sldIdLst>
    <p:sldId xmlns:r="http://schemas.openxmlformats.org/officeDocument/2006/relationships" id="256" r:id="Ra308e647c0fd4d77"/>
    <p:sldId xmlns:r="http://schemas.openxmlformats.org/officeDocument/2006/relationships" id="257" r:id="Rf8537d2f3c8545b3"/>
  </p:sldIdLst>
  <p:sldSz cx="151161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e5baff411e4ed8" /><Relationship Type="http://schemas.openxmlformats.org/officeDocument/2006/relationships/slideMaster" Target="/ppt/slideMasters/slideMaster1.xml" Id="Rf4c2bd68f51c44f0" /><Relationship Type="http://schemas.openxmlformats.org/officeDocument/2006/relationships/notesMaster" Target="/ppt/notesMasters/notesMaster1.xml" Id="Red7c52d7ae3d4445" /><Relationship Type="http://schemas.openxmlformats.org/officeDocument/2006/relationships/presProps" Target="/ppt/presProps.xml" Id="Rcd7e8f20ebb745e6" /><Relationship Type="http://schemas.openxmlformats.org/officeDocument/2006/relationships/tableStyles" Target="/ppt/tableStyles.xml" Id="R90302dab6ef14a47" /><Relationship Type="http://schemas.openxmlformats.org/officeDocument/2006/relationships/slide" Target="/ppt/slides/slide1.xml" Id="Ra308e647c0fd4d77" /><Relationship Type="http://schemas.openxmlformats.org/officeDocument/2006/relationships/slide" Target="/ppt/slides/slide2.xml" Id="Rf8537d2f3c8545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799d4b4dc646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4dd454feb34ce8" /><Relationship Type="http://schemas.openxmlformats.org/officeDocument/2006/relationships/notesMaster" Target="/ppt/notesMasters/notesMaster1.xml" Id="R1ec63c4d98384c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7aca186aa54e46" /><Relationship Type="http://schemas.openxmlformats.org/officeDocument/2006/relationships/notesMaster" Target="/ppt/notesMasters/notesMaster1.xml" Id="R962aeb0764084a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style reference: /var/folders/z3/3k1qp3m90d38sv0jjk5wsw1w0000gn/T/codex-clipboard-29c3efb4-72a0-4959-8f87-520cdb57d392.png</a:t>
            </a:r>
          </a:p>
          <a:p xmlns:a="http://schemas.openxmlformats.org/drawingml/2006/main">
            <a:r>
              <a:t>- OpenAI-generated background asset: assets/black-gold-background.png</a:t>
            </a:r>
          </a:p>
          <a:p xmlns:a="http://schemas.openxmlformats.org/drawingml/2006/main">
            <a:r>
              <a:t>- Project content source: /Users/chan/Developer/workspace/pume-llm-ab/backend/counsel/prompts.py</a:t>
            </a:r>
          </a:p>
          <a:p xmlns:a="http://schemas.openxmlformats.org/drawingml/2006/main">
            <a:r>
              <a:t>- QR destination: https://github.com/mgusdn/chatbot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clean black-and-gold standing-banner concept with a single red attention hook.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style reference: /var/folders/z3/3k1qp3m90d38sv0jjk5wsw1w0000gn/T/codex-clipboard-94eaefa5-151e-4dae-aac9-c758328dc192.png</a:t>
            </a:r>
          </a:p>
          <a:p xmlns:a="http://schemas.openxmlformats.org/drawingml/2006/main">
            <a:r>
              <a:t>- OpenAI-generated background asset: assets/sky-panda-background.png</a:t>
            </a:r>
          </a:p>
          <a:p xmlns:a="http://schemas.openxmlformats.org/drawingml/2006/main">
            <a:r>
              <a:t>- Project content source: /Users/chan/Developer/workspace/pume-llm-ab/backend/counsel/prompts.py</a:t>
            </a:r>
          </a:p>
          <a:p xmlns:a="http://schemas.openxmlformats.org/drawingml/2006/main">
            <a:r>
              <a:t>- QR destination: https://github.com/mgusdn/chatbot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friendly character-led version that keeps the same information hierarchy as the clean black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a479290ad41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8b0ec76e84db9" /><Relationship Type="http://schemas.openxmlformats.org/officeDocument/2006/relationships/slideLayout" Target="/ppt/slideLayouts/slideLayout1.xml" Id="Ra4b7a3c2e2e44a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b7a3c2e2e44a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4e8fc5f6b41fd" /><Relationship Type="http://schemas.openxmlformats.org/officeDocument/2006/relationships/image" Target="/ppt/media/image.png" Id="R2ecd80c027974d33" /><Relationship Type="http://schemas.openxmlformats.org/officeDocument/2006/relationships/image" Target="/ppt/media/image2.png" Id="Re38805d5581c4c43" /><Relationship Type="http://schemas.openxmlformats.org/officeDocument/2006/relationships/notesSlide" Target="/ppt/notesSlides/notesSlide1.xml" Id="Rf50d8b5e14dc44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ee96215d3455e" /><Relationship Type="http://schemas.openxmlformats.org/officeDocument/2006/relationships/image" Target="/ppt/media/image3.png" Id="Rdc6f1d5b58c54ebb" /><Relationship Type="http://schemas.openxmlformats.org/officeDocument/2006/relationships/image" Target="/ppt/media/image4.png" Id="Rc62d6085e5e24f59" /><Relationship Type="http://schemas.openxmlformats.org/officeDocument/2006/relationships/notesSlide" Target="/ppt/notesSlides/notesSlide2.xml" Id="R31bad913b61948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d80c027974d33"/>
          <a:srcRect xmlns:a="http://schemas.openxmlformats.org/drawingml/2006/main" l="0" t="2846" r="0" b="2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116175" cy="21383625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E78BEA0-437E-4133-B2B3-4E4E8C77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43250"/>
            <a:ext cx="10353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C9A9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C9A958"/>
                </a:solidFill>
                <a:latin typeface="Apple SD Gothic Neo"/>
                <a:ea typeface="Apple SD Gothic Neo"/>
                <a:cs typeface="Apple SD Gothic Neo"/>
              </a:rPr>
              <a:t>SATIR ICEBERG MODEL × AI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7E74AC44-54C7-48B4-A1A9-12688037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123539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0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0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AI 타로 &amp; 사주</a:t>
            </a:r>
          </a:p>
        </p:txBody>
      </p:sp>
      <p:sp>
        <p:nvSpPr>
          <p:cNvPr id="4" name="hook">
            <a:extLst xmlns:a="http://schemas.openxmlformats.org/drawingml/2006/main">
              <a:ext uri="{FF2B5EF4-FFF2-40B4-BE49-F238E27FC236}">
                <a16:creationId xmlns:a16="http://schemas.microsoft.com/office/drawing/2014/main" id="{D51E3EFD-3585-4799-97CD-F5A0E31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57875"/>
            <a:ext cx="118776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6825" b="1">
                <a:solidFill>
                  <a:srgbClr val="F255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825" b="1">
                <a:solidFill>
                  <a:srgbClr val="F2554A"/>
                </a:solidFill>
                <a:latin typeface="Apple SD Gothic Neo"/>
                <a:ea typeface="Apple SD Gothic Neo"/>
                <a:cs typeface="Apple SD Gothic Neo"/>
              </a:rPr>
              <a:t>잡으러 왔습니다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5F2A25F2-F842-4B44-B4CE-BEB5B753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29500"/>
            <a:ext cx="1082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850" b="0">
                <a:solidFill>
                  <a:srgbClr val="E8DDB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E8DDBB"/>
                </a:solidFill>
                <a:latin typeface="Apple SD Gothic Neo"/>
                <a:ea typeface="Apple SD Gothic Neo"/>
                <a:cs typeface="Apple SD Gothic Neo"/>
              </a:rPr>
              <a:t>사티어 빙산 모델로 발견하는 나의 마음과 관계</a:t>
            </a:r>
          </a:p>
        </p:txBody>
      </p:sp>
      <p:sp>
        <p:nvSpPr>
          <p:cNvPr id="6" name="section-rule-top">
            <a:extLst xmlns:a="http://schemas.openxmlformats.org/drawingml/2006/main">
              <a:ext uri="{FF2B5EF4-FFF2-40B4-BE49-F238E27FC236}">
                <a16:creationId xmlns:a16="http://schemas.microsoft.com/office/drawing/2014/main" id="{9BA733BB-FAC0-4C5C-83EF-39A96289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72500"/>
            <a:ext cx="9401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E08F900D-0002-451A-9FAC-845CF2B3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90587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C9A9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9A958"/>
                </a:solidFill>
                <a:latin typeface="Apple SD Gothic Neo"/>
                <a:ea typeface="Apple SD Gothic Neo"/>
                <a:cs typeface="Apple SD Gothic Neo"/>
              </a:rPr>
              <a:t>6가지 내면 분석</a:t>
            </a:r>
          </a:p>
        </p:txBody>
      </p:sp>
      <p:sp>
        <p:nvSpPr>
          <p:cNvPr id="8" name="analysis-0-left">
            <a:extLst xmlns:a="http://schemas.openxmlformats.org/drawingml/2006/main">
              <a:ext uri="{FF2B5EF4-FFF2-40B4-BE49-F238E27FC236}">
                <a16:creationId xmlns:a16="http://schemas.microsoft.com/office/drawing/2014/main" id="{F70BFE0B-CBAE-4EA6-B9AF-64C6D9A4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848850"/>
            <a:ext cx="49672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감정 · 상처 분석</a:t>
            </a:r>
          </a:p>
        </p:txBody>
      </p:sp>
      <p:sp>
        <p:nvSpPr>
          <p:cNvPr id="9" name="analysis-0-right">
            <a:extLst xmlns:a="http://schemas.openxmlformats.org/drawingml/2006/main">
              <a:ext uri="{FF2B5EF4-FFF2-40B4-BE49-F238E27FC236}">
                <a16:creationId xmlns:a16="http://schemas.microsoft.com/office/drawing/2014/main" id="{17C22F8A-99ED-486E-AE15-32F10BA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9848850"/>
            <a:ext cx="49672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생각 · 지각 분석</a:t>
            </a:r>
          </a:p>
        </p:txBody>
      </p:sp>
      <p:sp>
        <p:nvSpPr>
          <p:cNvPr id="10" name="analysis-row-1">
            <a:extLst xmlns:a="http://schemas.openxmlformats.org/drawingml/2006/main">
              <a:ext uri="{FF2B5EF4-FFF2-40B4-BE49-F238E27FC236}">
                <a16:creationId xmlns:a16="http://schemas.microsoft.com/office/drawing/2014/main" id="{4C1A0542-913D-45B2-810E-18C0D4A2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839450"/>
            <a:ext cx="10353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343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nalysis-1-left">
            <a:extLst xmlns:a="http://schemas.openxmlformats.org/drawingml/2006/main">
              <a:ext uri="{FF2B5EF4-FFF2-40B4-BE49-F238E27FC236}">
                <a16:creationId xmlns:a16="http://schemas.microsoft.com/office/drawing/2014/main" id="{DBC00B50-6338-4F47-922B-3B93C7B5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972800"/>
            <a:ext cx="49672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행동 · 대처 패턴</a:t>
            </a:r>
          </a:p>
        </p:txBody>
      </p:sp>
      <p:sp>
        <p:nvSpPr>
          <p:cNvPr id="12" name="analysis-1-right">
            <a:extLst xmlns:a="http://schemas.openxmlformats.org/drawingml/2006/main">
              <a:ext uri="{FF2B5EF4-FFF2-40B4-BE49-F238E27FC236}">
                <a16:creationId xmlns:a16="http://schemas.microsoft.com/office/drawing/2014/main" id="{00936609-BED7-4BEF-AA1A-A2000A5F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10972800"/>
            <a:ext cx="49672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내면의 기대</a:t>
            </a:r>
          </a:p>
        </p:txBody>
      </p:sp>
      <p:sp>
        <p:nvSpPr>
          <p:cNvPr id="13" name="analysis-row-2">
            <a:extLst xmlns:a="http://schemas.openxmlformats.org/drawingml/2006/main">
              <a:ext uri="{FF2B5EF4-FFF2-40B4-BE49-F238E27FC236}">
                <a16:creationId xmlns:a16="http://schemas.microsoft.com/office/drawing/2014/main" id="{200D55D6-6103-457B-B743-C9095A3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963400"/>
            <a:ext cx="10353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343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nalysis-2-left">
            <a:extLst xmlns:a="http://schemas.openxmlformats.org/drawingml/2006/main">
              <a:ext uri="{FF2B5EF4-FFF2-40B4-BE49-F238E27FC236}">
                <a16:creationId xmlns:a16="http://schemas.microsoft.com/office/drawing/2014/main" id="{A4FD1793-5E96-43CC-8F10-395ED1D2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096750"/>
            <a:ext cx="49672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숨은 열망</a:t>
            </a:r>
          </a:p>
        </p:txBody>
      </p:sp>
      <p:sp>
        <p:nvSpPr>
          <p:cNvPr id="15" name="analysis-2-right">
            <a:extLst xmlns:a="http://schemas.openxmlformats.org/drawingml/2006/main">
              <a:ext uri="{FF2B5EF4-FFF2-40B4-BE49-F238E27FC236}">
                <a16:creationId xmlns:a16="http://schemas.microsoft.com/office/drawing/2014/main" id="{06A0A570-C681-425A-894E-6811A87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12096750"/>
            <a:ext cx="49672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가치 · 자아 탐색</a:t>
            </a:r>
          </a:p>
        </p:txBody>
      </p:sp>
      <p:sp>
        <p:nvSpPr>
          <p:cNvPr id="16" name="analysis-center-rule">
            <a:extLst xmlns:a="http://schemas.openxmlformats.org/drawingml/2006/main">
              <a:ext uri="{FF2B5EF4-FFF2-40B4-BE49-F238E27FC236}">
                <a16:creationId xmlns:a16="http://schemas.microsoft.com/office/drawing/2014/main" id="{A75104DD-CF39-42E9-96D7-85FBF76D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99250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343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ction-rule-bottom">
            <a:extLst xmlns:a="http://schemas.openxmlformats.org/drawingml/2006/main">
              <a:ext uri="{FF2B5EF4-FFF2-40B4-BE49-F238E27FC236}">
                <a16:creationId xmlns:a16="http://schemas.microsoft.com/office/drawing/2014/main" id="{8C4C1A92-7A02-445D-9C4C-FC75E3F7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382625"/>
            <a:ext cx="9401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act">
            <a:extLst xmlns:a="http://schemas.openxmlformats.org/drawingml/2006/main">
              <a:ext uri="{FF2B5EF4-FFF2-40B4-BE49-F238E27FC236}">
                <a16:creationId xmlns:a16="http://schemas.microsoft.com/office/drawing/2014/main" id="{AC3D59C6-5802-4B51-BCF8-9F2A0716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906500"/>
            <a:ext cx="10163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67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상담문의  PuBaO</a:t>
            </a:r>
          </a:p>
        </p:txBody>
      </p:sp>
      <p:sp>
        <p:nvSpPr>
          <p:cNvPr id="19" name="qr-frame">
            <a:extLst xmlns:a="http://schemas.openxmlformats.org/drawingml/2006/main">
              <a:ext uri="{FF2B5EF4-FFF2-40B4-BE49-F238E27FC236}">
                <a16:creationId xmlns:a16="http://schemas.microsoft.com/office/drawing/2014/main" id="{C49E5F29-AC17-4FDE-88FC-9DEBD7E5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88" y="14763750"/>
            <a:ext cx="28956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28575">
            <a:solidFill>
              <a:srgbClr val="B79343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805d5581c4c43"/>
          <a:stretch xmlns:a="http://schemas.openxmlformats.org/drawingml/2006/main"/>
        </p:blipFill>
        <p:spPr>
          <a:xfrm xmlns:a="http://schemas.openxmlformats.org/drawingml/2006/main">
            <a:off x="6272213" y="14925675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21" name="qr-caption">
            <a:extLst xmlns:a="http://schemas.openxmlformats.org/drawingml/2006/main">
              <a:ext uri="{FF2B5EF4-FFF2-40B4-BE49-F238E27FC236}">
                <a16:creationId xmlns:a16="http://schemas.microsoft.com/office/drawing/2014/main" id="{6C67DB46-76C9-4F4F-A91C-A80571D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868900"/>
            <a:ext cx="10353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D3B6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D3B66B"/>
                </a:solidFill>
                <a:latin typeface="Apple SD Gothic Neo"/>
                <a:ea typeface="Apple SD Gothic Neo"/>
                <a:cs typeface="Apple SD Gothic Neo"/>
              </a:rPr>
              <a:t>GitHub에서 프로젝트 보기</a:t>
            </a:r>
          </a:p>
        </p:txBody>
      </p:sp>
      <p:sp>
        <p:nvSpPr>
          <p:cNvPr id="22" name="qr-url">
            <a:extLst xmlns:a="http://schemas.openxmlformats.org/drawingml/2006/main">
              <a:ext uri="{FF2B5EF4-FFF2-40B4-BE49-F238E27FC236}">
                <a16:creationId xmlns:a16="http://schemas.microsoft.com/office/drawing/2014/main" id="{EF015F91-5689-4CC7-BCB8-ABEE789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307050"/>
            <a:ext cx="1016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0">
                <a:solidFill>
                  <a:srgbClr val="C8C0A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C8C0AB"/>
                </a:solidFill>
                <a:latin typeface="Apple SD Gothic Neo"/>
                <a:ea typeface="Apple SD Gothic Neo"/>
                <a:cs typeface="Apple SD Gothic Neo"/>
              </a:rPr>
              <a:t>github.com/mgusdn/chatbot</a:t>
            </a:r>
          </a:p>
        </p:txBody>
      </p:sp>
      <p:sp>
        <p:nvSpPr>
          <p:cNvPr id="23" name="disclaimer">
            <a:extLst xmlns:a="http://schemas.openxmlformats.org/drawingml/2006/main">
              <a:ext uri="{FF2B5EF4-FFF2-40B4-BE49-F238E27FC236}">
                <a16:creationId xmlns:a16="http://schemas.microsoft.com/office/drawing/2014/main" id="{CFBD62B9-6719-4FE6-B3F3-15EFF6E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35875"/>
            <a:ext cx="1111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0">
                <a:solidFill>
                  <a:srgbClr val="A8A0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8A08F"/>
                </a:solidFill>
                <a:latin typeface="Apple SD Gothic Neo"/>
                <a:ea typeface="Apple SD Gothic Neo"/>
                <a:cs typeface="Apple SD Gothic Neo"/>
              </a:rPr>
              <a:t>AI 기반 자기이해 체험 · 결과는 참고용입니다.</a:t>
            </a:r>
          </a:p>
        </p:txBody>
      </p:sp>
    </p:spTree>
    <p:extLst>
      <p:ext uri="{BB962C8B-B14F-4D97-AF65-F5344CB8AC3E}">
        <p14:creationId xmlns:p14="http://schemas.microsoft.com/office/powerpoint/2010/main" val="8166395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f1d5b58c54ebb"/>
          <a:srcRect xmlns:a="http://schemas.openxmlformats.org/drawingml/2006/main" l="0" t="2846" r="0" b="2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116175" cy="21383625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4C6A413-6789-43B1-B85B-742745E3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477125"/>
            <a:ext cx="10163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274A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74A91"/>
                </a:solidFill>
                <a:latin typeface="Apple SD Gothic Neo"/>
                <a:ea typeface="Apple SD Gothic Neo"/>
                <a:cs typeface="Apple SD Gothic Neo"/>
              </a:rPr>
              <a:t>SATIR ICEBERG MODEL × AI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9E9F3056-83E3-4F5A-A129-604384A3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0"/>
            <a:ext cx="128301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0" b="1">
                <a:solidFill>
                  <a:srgbClr val="1636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00" b="1">
                <a:solidFill>
                  <a:srgbClr val="16366F"/>
                </a:solidFill>
                <a:latin typeface="Apple SD Gothic Neo"/>
                <a:ea typeface="Apple SD Gothic Neo"/>
                <a:cs typeface="Apple SD Gothic Neo"/>
              </a:rPr>
              <a:t>AI 타로 &amp; 사주</a:t>
            </a:r>
          </a:p>
        </p:txBody>
      </p:sp>
      <p:sp>
        <p:nvSpPr>
          <p:cNvPr id="4" name="hook">
            <a:extLst xmlns:a="http://schemas.openxmlformats.org/drawingml/2006/main">
              <a:ext uri="{FF2B5EF4-FFF2-40B4-BE49-F238E27FC236}">
                <a16:creationId xmlns:a16="http://schemas.microsoft.com/office/drawing/2014/main" id="{48C5B38E-9C2D-45DB-81D2-8886815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667875"/>
            <a:ext cx="116871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6300" b="1">
                <a:solidFill>
                  <a:srgbClr val="E457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00" b="1">
                <a:solidFill>
                  <a:srgbClr val="E45756"/>
                </a:solidFill>
                <a:latin typeface="Apple SD Gothic Neo"/>
                <a:ea typeface="Apple SD Gothic Neo"/>
                <a:cs typeface="Apple SD Gothic Neo"/>
              </a:rPr>
              <a:t>잡으러 왔습니다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77E99C30-C571-49C8-9EE5-647A2BCC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906125"/>
            <a:ext cx="10829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>
                <a:solidFill>
                  <a:srgbClr val="2B4F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B4F8F"/>
                </a:solidFill>
                <a:latin typeface="Apple SD Gothic Neo"/>
                <a:ea typeface="Apple SD Gothic Neo"/>
                <a:cs typeface="Apple SD Gothic Neo"/>
              </a:rPr>
              <a:t>사티어 빙산 모델로 마음속 패턴을 천천히 살펴봐요</a:t>
            </a:r>
          </a:p>
        </p:txBody>
      </p:sp>
      <p:sp>
        <p:nvSpPr>
          <p:cNvPr id="6" name="section-rule-top">
            <a:extLst xmlns:a="http://schemas.openxmlformats.org/drawingml/2006/main">
              <a:ext uri="{FF2B5EF4-FFF2-40B4-BE49-F238E27FC236}">
                <a16:creationId xmlns:a16="http://schemas.microsoft.com/office/drawing/2014/main" id="{5C90D844-27B5-4BF4-8B22-DDED6313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1763375"/>
            <a:ext cx="9305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2A439BE3-708F-4813-90C1-50BA7141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020550"/>
            <a:ext cx="6543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21468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214681"/>
                </a:solidFill>
                <a:latin typeface="Apple SD Gothic Neo"/>
                <a:ea typeface="Apple SD Gothic Neo"/>
                <a:cs typeface="Apple SD Gothic Neo"/>
              </a:rPr>
              <a:t>6가지 내면 분석</a:t>
            </a:r>
          </a:p>
        </p:txBody>
      </p:sp>
      <p:sp>
        <p:nvSpPr>
          <p:cNvPr id="8" name="analysis-0-left">
            <a:extLst xmlns:a="http://schemas.openxmlformats.org/drawingml/2006/main">
              <a:ext uri="{FF2B5EF4-FFF2-40B4-BE49-F238E27FC236}">
                <a16:creationId xmlns:a16="http://schemas.microsoft.com/office/drawing/2014/main" id="{12070D41-AED2-4D11-88D9-BD22442B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801600"/>
            <a:ext cx="51577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rPr>
              <a:t>감정 · 상처 분석</a:t>
            </a:r>
          </a:p>
        </p:txBody>
      </p:sp>
      <p:sp>
        <p:nvSpPr>
          <p:cNvPr id="9" name="analysis-0-right">
            <a:extLst xmlns:a="http://schemas.openxmlformats.org/drawingml/2006/main">
              <a:ext uri="{FF2B5EF4-FFF2-40B4-BE49-F238E27FC236}">
                <a16:creationId xmlns:a16="http://schemas.microsoft.com/office/drawing/2014/main" id="{42FA5EF4-4AA1-40E6-A69E-08869D05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12801600"/>
            <a:ext cx="51577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rPr>
              <a:t>생각 · 지각 분석</a:t>
            </a:r>
          </a:p>
        </p:txBody>
      </p:sp>
      <p:sp>
        <p:nvSpPr>
          <p:cNvPr id="10" name="analysis-row-1">
            <a:extLst xmlns:a="http://schemas.openxmlformats.org/drawingml/2006/main">
              <a:ext uri="{FF2B5EF4-FFF2-40B4-BE49-F238E27FC236}">
                <a16:creationId xmlns:a16="http://schemas.microsoft.com/office/drawing/2014/main" id="{CDDDEA44-27E0-488E-8CDA-410D63D6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5445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nalysis-1-left">
            <a:extLst xmlns:a="http://schemas.openxmlformats.org/drawingml/2006/main">
              <a:ext uri="{FF2B5EF4-FFF2-40B4-BE49-F238E27FC236}">
                <a16:creationId xmlns:a16="http://schemas.microsoft.com/office/drawing/2014/main" id="{B70AF6BD-61DF-4718-B740-0AED199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677900"/>
            <a:ext cx="51577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rPr>
              <a:t>행동 · 대처 패턴</a:t>
            </a:r>
          </a:p>
        </p:txBody>
      </p:sp>
      <p:sp>
        <p:nvSpPr>
          <p:cNvPr id="12" name="analysis-1-right">
            <a:extLst xmlns:a="http://schemas.openxmlformats.org/drawingml/2006/main">
              <a:ext uri="{FF2B5EF4-FFF2-40B4-BE49-F238E27FC236}">
                <a16:creationId xmlns:a16="http://schemas.microsoft.com/office/drawing/2014/main" id="{E2E84654-35CD-4036-AA62-C3F6CEB4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13677900"/>
            <a:ext cx="51577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rPr>
              <a:t>내면의 기대</a:t>
            </a:r>
          </a:p>
        </p:txBody>
      </p:sp>
      <p:sp>
        <p:nvSpPr>
          <p:cNvPr id="13" name="analysis-row-2">
            <a:extLst xmlns:a="http://schemas.openxmlformats.org/drawingml/2006/main">
              <a:ext uri="{FF2B5EF4-FFF2-40B4-BE49-F238E27FC236}">
                <a16:creationId xmlns:a16="http://schemas.microsoft.com/office/drawing/2014/main" id="{907D06B2-BA2B-46B5-9002-81291FFA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4208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nalysis-2-left">
            <a:extLst xmlns:a="http://schemas.openxmlformats.org/drawingml/2006/main">
              <a:ext uri="{FF2B5EF4-FFF2-40B4-BE49-F238E27FC236}">
                <a16:creationId xmlns:a16="http://schemas.microsoft.com/office/drawing/2014/main" id="{7E99DC13-B89A-48D7-9712-F279D73A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554200"/>
            <a:ext cx="51577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rPr>
              <a:t>숨은 열망</a:t>
            </a:r>
          </a:p>
        </p:txBody>
      </p:sp>
      <p:sp>
        <p:nvSpPr>
          <p:cNvPr id="15" name="analysis-2-right">
            <a:extLst xmlns:a="http://schemas.openxmlformats.org/drawingml/2006/main">
              <a:ext uri="{FF2B5EF4-FFF2-40B4-BE49-F238E27FC236}">
                <a16:creationId xmlns:a16="http://schemas.microsoft.com/office/drawing/2014/main" id="{A75A1AE7-51FF-4FDC-AE1A-D6132C8D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14554200"/>
            <a:ext cx="51577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rPr>
              <a:t>가치 · 자아 탐색</a:t>
            </a:r>
          </a:p>
        </p:txBody>
      </p:sp>
      <p:sp>
        <p:nvSpPr>
          <p:cNvPr id="16" name="analysis-center-rule">
            <a:extLst xmlns:a="http://schemas.openxmlformats.org/drawingml/2006/main">
              <a:ext uri="{FF2B5EF4-FFF2-40B4-BE49-F238E27FC236}">
                <a16:creationId xmlns:a16="http://schemas.microsoft.com/office/drawing/2014/main" id="{A0D33C08-25F4-45EC-8A0B-0DB3C768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12877800"/>
            <a:ext cx="190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ction-rule-bottom">
            <a:extLst xmlns:a="http://schemas.openxmlformats.org/drawingml/2006/main">
              <a:ext uri="{FF2B5EF4-FFF2-40B4-BE49-F238E27FC236}">
                <a16:creationId xmlns:a16="http://schemas.microsoft.com/office/drawing/2014/main" id="{802F3B81-DFC9-427B-9149-892D9788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621000"/>
            <a:ext cx="9305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act">
            <a:extLst xmlns:a="http://schemas.openxmlformats.org/drawingml/2006/main">
              <a:ext uri="{FF2B5EF4-FFF2-40B4-BE49-F238E27FC236}">
                <a16:creationId xmlns:a16="http://schemas.microsoft.com/office/drawing/2014/main" id="{1031E5D1-03DC-4C63-9D83-6D6E9D7B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859125"/>
            <a:ext cx="10163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67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73B75"/>
                </a:solidFill>
                <a:latin typeface="Apple SD Gothic Neo"/>
                <a:ea typeface="Apple SD Gothic Neo"/>
                <a:cs typeface="Apple SD Gothic Neo"/>
              </a:rPr>
              <a:t>상담문의  PuBaO</a:t>
            </a:r>
          </a:p>
        </p:txBody>
      </p:sp>
      <p:sp>
        <p:nvSpPr>
          <p:cNvPr id="19" name="qr-frame">
            <a:extLst xmlns:a="http://schemas.openxmlformats.org/drawingml/2006/main">
              <a:ext uri="{FF2B5EF4-FFF2-40B4-BE49-F238E27FC236}">
                <a16:creationId xmlns:a16="http://schemas.microsoft.com/office/drawing/2014/main" id="{8103D704-22EE-4787-81F5-831F6536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16375"/>
            <a:ext cx="2657475" cy="265747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d6085e5e24f59"/>
          <a:stretch xmlns:a="http://schemas.openxmlformats.org/drawingml/2006/main"/>
        </p:blipFill>
        <p:spPr>
          <a:xfrm xmlns:a="http://schemas.openxmlformats.org/drawingml/2006/main">
            <a:off x="6391275" y="16878300"/>
            <a:ext cx="2333625" cy="2333625"/>
          </a:xfrm>
          <a:prstGeom xmlns:a="http://schemas.openxmlformats.org/drawingml/2006/main" prst="rect">
            <a:avLst/>
          </a:prstGeom>
        </p:spPr>
      </p:pic>
      <p:sp>
        <p:nvSpPr>
          <p:cNvPr id="21" name="qr-caption">
            <a:extLst xmlns:a="http://schemas.openxmlformats.org/drawingml/2006/main">
              <a:ext uri="{FF2B5EF4-FFF2-40B4-BE49-F238E27FC236}">
                <a16:creationId xmlns:a16="http://schemas.microsoft.com/office/drawing/2014/main" id="{1E50ECBE-2836-4E34-A2B4-2CA10559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83400"/>
            <a:ext cx="10353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274A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74A91"/>
                </a:solidFill>
                <a:latin typeface="Apple SD Gothic Neo"/>
                <a:ea typeface="Apple SD Gothic Neo"/>
                <a:cs typeface="Apple SD Gothic Neo"/>
              </a:rPr>
              <a:t>GitHub에서 프로젝트 보기</a:t>
            </a:r>
          </a:p>
        </p:txBody>
      </p:sp>
      <p:sp>
        <p:nvSpPr>
          <p:cNvPr id="22" name="qr-url">
            <a:extLst xmlns:a="http://schemas.openxmlformats.org/drawingml/2006/main">
              <a:ext uri="{FF2B5EF4-FFF2-40B4-BE49-F238E27FC236}">
                <a16:creationId xmlns:a16="http://schemas.microsoft.com/office/drawing/2014/main" id="{E50C3E16-76F0-4450-8287-E2B5C490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21550"/>
            <a:ext cx="1016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0">
                <a:solidFill>
                  <a:srgbClr val="385B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85B91"/>
                </a:solidFill>
                <a:latin typeface="Apple SD Gothic Neo"/>
                <a:ea typeface="Apple SD Gothic Neo"/>
                <a:cs typeface="Apple SD Gothic Neo"/>
              </a:rPr>
              <a:t>github.com/mgusdn/chatbot</a:t>
            </a:r>
          </a:p>
        </p:txBody>
      </p:sp>
      <p:sp>
        <p:nvSpPr>
          <p:cNvPr id="23" name="disclaimer">
            <a:extLst xmlns:a="http://schemas.openxmlformats.org/drawingml/2006/main">
              <a:ext uri="{FF2B5EF4-FFF2-40B4-BE49-F238E27FC236}">
                <a16:creationId xmlns:a16="http://schemas.microsoft.com/office/drawing/2014/main" id="{55B8C389-B5FE-4902-BBBF-4969B953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0"/>
            <a:ext cx="1111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0">
                <a:solidFill>
                  <a:srgbClr val="496B9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496B9C"/>
                </a:solidFill>
                <a:latin typeface="Apple SD Gothic Neo"/>
                <a:ea typeface="Apple SD Gothic Neo"/>
                <a:cs typeface="Apple SD Gothic Neo"/>
              </a:rPr>
              <a:t>AI 기반 자기이해 체험 · 결과는 참고용입니다.</a:t>
            </a:r>
          </a:p>
        </p:txBody>
      </p:sp>
    </p:spTree>
    <p:extLst>
      <p:ext uri="{BB962C8B-B14F-4D97-AF65-F5344CB8AC3E}">
        <p14:creationId xmlns:p14="http://schemas.microsoft.com/office/powerpoint/2010/main" val="1628102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2026-08-05T01:02:39.6760000Z</dcterms:created>
  <dcterms:modified xsi:type="dcterms:W3CDTF">2026-08-05T01:02:39.6760000Z</dcterms:modified>
</coreProperties>
</file>